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6054" autoAdjust="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67EA6F-A968-4A2B-8CFA-1ECE62CFF3CE}" type="datetimeFigureOut">
              <a:rPr lang="en-ID" smtClean="0"/>
              <a:t>30/12/2025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79833-FA5F-48D3-9F9C-BD1630AA98A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934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ID" dirty="0" err="1"/>
              <a:t>Presentasi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menjelaskan</a:t>
            </a:r>
            <a:r>
              <a:rPr lang="en-ID" dirty="0"/>
              <a:t> proses Exploratory Data Analysis </a:t>
            </a:r>
            <a:r>
              <a:rPr lang="en-ID" dirty="0" err="1"/>
              <a:t>atau</a:t>
            </a:r>
            <a:r>
              <a:rPr lang="en-ID" dirty="0"/>
              <a:t> EDA yang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pembuatan</a:t>
            </a:r>
            <a:r>
              <a:rPr lang="en-ID" dirty="0"/>
              <a:t> dashboard Power BI: Executive Overview, Maintenance &amp; Operations, </a:t>
            </a:r>
            <a:r>
              <a:rPr lang="en-ID" dirty="0" err="1"/>
              <a:t>serta</a:t>
            </a:r>
            <a:r>
              <a:rPr lang="en-ID" dirty="0"/>
              <a:t> RCA &amp; Risk Analysis.</a:t>
            </a:r>
            <a:br>
              <a:rPr lang="en-ID" dirty="0"/>
            </a:br>
            <a:endParaRPr lang="en-ID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ID" dirty="0"/>
              <a:t>EDA </a:t>
            </a:r>
            <a:r>
              <a:rPr lang="en-ID" dirty="0" err="1"/>
              <a:t>memastikan</a:t>
            </a:r>
            <a:r>
              <a:rPr lang="en-ID" dirty="0"/>
              <a:t> dashboard </a:t>
            </a:r>
            <a:r>
              <a:rPr lang="en-ID" dirty="0" err="1"/>
              <a:t>dibangun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pemahaman</a:t>
            </a:r>
            <a:r>
              <a:rPr lang="en-ID" dirty="0"/>
              <a:t> data yang </a:t>
            </a:r>
            <a:r>
              <a:rPr lang="en-ID" dirty="0" err="1"/>
              <a:t>benar</a:t>
            </a:r>
            <a:r>
              <a:rPr lang="en-ID" dirty="0"/>
              <a:t>,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asumsi</a:t>
            </a:r>
            <a:r>
              <a:rPr lang="en-ID" dirty="0"/>
              <a:t> </a:t>
            </a:r>
            <a:r>
              <a:rPr lang="en-ID" dirty="0" err="1"/>
              <a:t>artinya</a:t>
            </a:r>
            <a:r>
              <a:rPr lang="en-ID" dirty="0"/>
              <a:t> </a:t>
            </a:r>
            <a:r>
              <a:rPr lang="en-ID" dirty="0" err="1"/>
              <a:t>bertujuan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data </a:t>
            </a:r>
            <a:r>
              <a:rPr lang="en-ID" dirty="0" err="1"/>
              <a:t>dipahami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benar</a:t>
            </a:r>
            <a:r>
              <a:rPr lang="en-ID" dirty="0"/>
              <a:t>, </a:t>
            </a:r>
            <a:r>
              <a:rPr lang="en-ID" dirty="0" err="1"/>
              <a:t>metrik</a:t>
            </a:r>
            <a:r>
              <a:rPr lang="en-ID" dirty="0"/>
              <a:t> yang </a:t>
            </a:r>
            <a:r>
              <a:rPr lang="en-ID" dirty="0" err="1"/>
              <a:t>dipilih</a:t>
            </a:r>
            <a:r>
              <a:rPr lang="en-ID" dirty="0"/>
              <a:t> </a:t>
            </a:r>
            <a:r>
              <a:rPr lang="en-ID" dirty="0" err="1"/>
              <a:t>relevan</a:t>
            </a:r>
            <a:r>
              <a:rPr lang="en-ID" dirty="0"/>
              <a:t>, dan dashboard yang </a:t>
            </a:r>
            <a:r>
              <a:rPr lang="en-ID" dirty="0" err="1"/>
              <a:t>dihasilkan</a:t>
            </a:r>
            <a:r>
              <a:rPr lang="en-ID" dirty="0"/>
              <a:t> </a:t>
            </a:r>
            <a:r>
              <a:rPr lang="en-ID" dirty="0" err="1"/>
              <a:t>benar-benar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6FD2-3EF6-4627-8CED-17E741A56F3D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9271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dirty="0" err="1"/>
              <a:t>Tujuan</a:t>
            </a:r>
            <a:r>
              <a:rPr lang="en-ID" dirty="0"/>
              <a:t> EDA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karakteristik</a:t>
            </a:r>
            <a:r>
              <a:rPr lang="en-ID" dirty="0"/>
              <a:t> data maintenance,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ID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dirty="0" err="1"/>
              <a:t>menemukan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ID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dirty="0" err="1"/>
              <a:t>menentukan</a:t>
            </a:r>
            <a:r>
              <a:rPr lang="en-ID" dirty="0"/>
              <a:t> KPI dan </a:t>
            </a:r>
            <a:r>
              <a:rPr lang="en-ID" dirty="0" err="1"/>
              <a:t>metrik</a:t>
            </a:r>
            <a:r>
              <a:rPr lang="en-ID" dirty="0"/>
              <a:t> yang </a:t>
            </a:r>
            <a:r>
              <a:rPr lang="en-ID" dirty="0" err="1"/>
              <a:t>tepat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level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D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D" dirty="0"/>
              <a:t>EDA </a:t>
            </a:r>
            <a:r>
              <a:rPr lang="en-ID" dirty="0" err="1"/>
              <a:t>dilakukan</a:t>
            </a:r>
            <a:r>
              <a:rPr lang="en-ID" dirty="0"/>
              <a:t> agar dashboard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angka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menjawab</a:t>
            </a:r>
            <a:r>
              <a:rPr lang="en-ID" dirty="0"/>
              <a:t> </a:t>
            </a:r>
            <a:r>
              <a:rPr lang="en-ID" dirty="0" err="1"/>
              <a:t>pertanyaan</a:t>
            </a:r>
            <a:r>
              <a:rPr lang="en-ID" dirty="0"/>
              <a:t> </a:t>
            </a:r>
            <a:r>
              <a:rPr lang="en-ID" dirty="0" err="1"/>
              <a:t>bisnis</a:t>
            </a:r>
            <a:r>
              <a:rPr lang="en-ID" dirty="0"/>
              <a:t> yang </a:t>
            </a:r>
            <a:r>
              <a:rPr lang="en-ID" dirty="0" err="1"/>
              <a:t>nyata</a:t>
            </a:r>
            <a:r>
              <a:rPr lang="en-ID" dirty="0"/>
              <a:t> dan </a:t>
            </a:r>
            <a:r>
              <a:rPr lang="en-ID" dirty="0" err="1"/>
              <a:t>relevan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dan </a:t>
            </a:r>
            <a:r>
              <a:rPr lang="en-ID" dirty="0" err="1"/>
              <a:t>tim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.</a:t>
            </a:r>
            <a:br>
              <a:rPr lang="en-ID" dirty="0"/>
            </a:br>
            <a:endParaRPr lang="en-ID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dirty="0"/>
              <a:t>Hasil EDA </a:t>
            </a:r>
            <a:r>
              <a:rPr lang="en-ID" dirty="0" err="1"/>
              <a:t>inilah</a:t>
            </a:r>
            <a:r>
              <a:rPr lang="en-ID" dirty="0"/>
              <a:t> yang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dan </a:t>
            </a:r>
            <a:r>
              <a:rPr lang="en-ID" dirty="0" err="1"/>
              <a:t>isi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dashboard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6FD2-3EF6-4627-8CED-17E741A56F3D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0649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/>
              <a:t>Data </a:t>
            </a:r>
            <a:r>
              <a:rPr lang="en-ID" dirty="0" err="1"/>
              <a:t>bersifat</a:t>
            </a:r>
            <a:r>
              <a:rPr lang="en-ID" dirty="0"/>
              <a:t> event-based, di mana </a:t>
            </a:r>
            <a:r>
              <a:rPr lang="en-ID" dirty="0" err="1"/>
              <a:t>satu</a:t>
            </a:r>
            <a:r>
              <a:rPr lang="en-ID" dirty="0"/>
              <a:t> baris </a:t>
            </a:r>
            <a:r>
              <a:rPr lang="en-ID" dirty="0" err="1"/>
              <a:t>merepresentasikan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kejadian</a:t>
            </a:r>
            <a:r>
              <a:rPr lang="en-ID" dirty="0"/>
              <a:t> maintenance pada </a:t>
            </a:r>
            <a:r>
              <a:rPr lang="en-ID" dirty="0" err="1"/>
              <a:t>satu</a:t>
            </a:r>
            <a:r>
              <a:rPr lang="en-ID" dirty="0"/>
              <a:t> equipment, </a:t>
            </a:r>
            <a:r>
              <a:rPr lang="en-ID" dirty="0" err="1"/>
              <a:t>satu</a:t>
            </a:r>
            <a:r>
              <a:rPr lang="en-ID" dirty="0"/>
              <a:t> site,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tanggal</a:t>
            </a:r>
            <a:r>
              <a:rPr lang="en-ID" dirty="0"/>
              <a:t>, dan </a:t>
            </a:r>
            <a:r>
              <a:rPr lang="en-ID" dirty="0" err="1"/>
              <a:t>satu</a:t>
            </a:r>
            <a:r>
              <a:rPr lang="en-ID" dirty="0"/>
              <a:t> failure.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D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/>
              <a:t>Grain data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downtime, </a:t>
            </a:r>
            <a:r>
              <a:rPr lang="en-ID" dirty="0" err="1"/>
              <a:t>biaya</a:t>
            </a:r>
            <a:r>
              <a:rPr lang="en-ID" dirty="0"/>
              <a:t>, dan effort maintenance </a:t>
            </a:r>
            <a:r>
              <a:rPr lang="en-ID" dirty="0" err="1"/>
              <a:t>dihitung</a:t>
            </a:r>
            <a:r>
              <a:rPr lang="en-ID" dirty="0"/>
              <a:t> dan </a:t>
            </a:r>
            <a:r>
              <a:rPr lang="en-ID" dirty="0" err="1"/>
              <a:t>dianalisis</a:t>
            </a:r>
            <a:r>
              <a:rPr lang="en-ID" dirty="0"/>
              <a:t>.</a:t>
            </a:r>
            <a:br>
              <a:rPr lang="en-ID" dirty="0"/>
            </a:br>
            <a:endParaRPr lang="en-ID" dirty="0"/>
          </a:p>
          <a:p>
            <a:r>
              <a:rPr lang="en-ID" dirty="0"/>
              <a:t>     </a:t>
            </a:r>
            <a:r>
              <a:rPr lang="en-ID" dirty="0" err="1"/>
              <a:t>Dengan</a:t>
            </a:r>
            <a:r>
              <a:rPr lang="en-ID" dirty="0"/>
              <a:t> grain yang </a:t>
            </a:r>
            <a:r>
              <a:rPr lang="en-ID" dirty="0" err="1"/>
              <a:t>jelas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agregasi</a:t>
            </a:r>
            <a:r>
              <a:rPr lang="en-ID" dirty="0"/>
              <a:t> KPI dan </a:t>
            </a:r>
            <a:r>
              <a:rPr lang="en-ID" dirty="0" err="1"/>
              <a:t>tren</a:t>
            </a:r>
            <a:r>
              <a:rPr lang="en-ID" dirty="0"/>
              <a:t> yang </a:t>
            </a:r>
            <a:r>
              <a:rPr lang="en-ID" dirty="0" err="1"/>
              <a:t>dihasilkan</a:t>
            </a:r>
            <a:r>
              <a:rPr lang="en-ID" dirty="0"/>
              <a:t> </a:t>
            </a:r>
            <a:r>
              <a:rPr lang="en-ID" dirty="0" err="1"/>
              <a:t>konsisten</a:t>
            </a:r>
            <a:r>
              <a:rPr lang="en-ID" dirty="0"/>
              <a:t> dan </a:t>
            </a:r>
            <a:r>
              <a:rPr lang="en-ID" dirty="0" err="1"/>
              <a:t>akurat</a:t>
            </a:r>
            <a:r>
              <a:rPr lang="en-ID" dirty="0"/>
              <a:t>.</a:t>
            </a:r>
          </a:p>
          <a:p>
            <a:endParaRPr lang="en-ID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/>
              <a:t>Kolom </a:t>
            </a:r>
            <a:r>
              <a:rPr lang="en-ID" dirty="0" err="1"/>
              <a:t>utama</a:t>
            </a:r>
            <a:r>
              <a:rPr lang="en-ID" dirty="0"/>
              <a:t> yang </a:t>
            </a:r>
            <a:r>
              <a:rPr lang="en-ID" dirty="0" err="1"/>
              <a:t>dianalisis</a:t>
            </a:r>
            <a:r>
              <a:rPr lang="en-ID" dirty="0"/>
              <a:t> </a:t>
            </a:r>
            <a:r>
              <a:rPr lang="en-ID" dirty="0" err="1"/>
              <a:t>meliputi</a:t>
            </a:r>
            <a:r>
              <a:rPr lang="en-ID" dirty="0"/>
              <a:t> : </a:t>
            </a:r>
          </a:p>
          <a:p>
            <a:r>
              <a:rPr lang="en-ID" dirty="0"/>
              <a:t>	downtime hours, maintenance cost, repair hours, dan work order count.</a:t>
            </a:r>
            <a:br>
              <a:rPr lang="en-ID" dirty="0"/>
            </a:br>
            <a:endParaRPr lang="en-ID" dirty="0"/>
          </a:p>
          <a:p>
            <a:r>
              <a:rPr lang="en-ID" dirty="0" err="1"/>
              <a:t>Penentuan</a:t>
            </a:r>
            <a:r>
              <a:rPr lang="en-ID" dirty="0"/>
              <a:t> grain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agar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perhitungan</a:t>
            </a:r>
            <a:r>
              <a:rPr lang="en-ID" dirty="0"/>
              <a:t> KPI dan </a:t>
            </a:r>
            <a:r>
              <a:rPr lang="en-ID" dirty="0" err="1"/>
              <a:t>tren</a:t>
            </a:r>
            <a:r>
              <a:rPr lang="en-ID" dirty="0"/>
              <a:t> di Power BI </a:t>
            </a:r>
            <a:r>
              <a:rPr lang="en-ID" dirty="0" err="1"/>
              <a:t>konsisten</a:t>
            </a:r>
            <a:r>
              <a:rPr lang="en-ID" dirty="0"/>
              <a:t>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double counting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6FD2-3EF6-4627-8CED-17E741A56F3D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0984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/>
              <a:t>Pada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pemeriksaan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 data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kosong</a:t>
            </a:r>
            <a:r>
              <a:rPr lang="en-ID" dirty="0"/>
              <a:t>,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nol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wajar</a:t>
            </a:r>
            <a:r>
              <a:rPr lang="en-ID" dirty="0"/>
              <a:t>, dan outlier </a:t>
            </a:r>
            <a:r>
              <a:rPr lang="en-ID" dirty="0" err="1"/>
              <a:t>ekstrem</a:t>
            </a:r>
            <a:r>
              <a:rPr lang="en-ID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D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kosong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MoM di </a:t>
            </a:r>
            <a:r>
              <a:rPr lang="en-ID" dirty="0" err="1"/>
              <a:t>bulan</a:t>
            </a:r>
            <a:r>
              <a:rPr lang="en-ID" dirty="0"/>
              <a:t> </a:t>
            </a:r>
            <a:r>
              <a:rPr lang="en-ID" dirty="0" err="1"/>
              <a:t>pertama</a:t>
            </a:r>
            <a:r>
              <a:rPr lang="en-ID" dirty="0"/>
              <a:t>,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normal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dianggap</a:t>
            </a:r>
            <a:r>
              <a:rPr lang="en-ID" dirty="0"/>
              <a:t> error.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D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/>
              <a:t>Hasilnya</a:t>
            </a:r>
            <a:r>
              <a:rPr lang="en-ID" dirty="0"/>
              <a:t>, data </a:t>
            </a:r>
            <a:r>
              <a:rPr lang="en-ID" dirty="0" err="1"/>
              <a:t>dinilai</a:t>
            </a:r>
            <a:r>
              <a:rPr lang="en-ID" dirty="0"/>
              <a:t>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bersih</a:t>
            </a:r>
            <a:r>
              <a:rPr lang="en-ID" dirty="0"/>
              <a:t> dan </a:t>
            </a:r>
            <a:r>
              <a:rPr lang="en-ID" dirty="0" err="1"/>
              <a:t>layak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lanjutan</a:t>
            </a:r>
            <a:r>
              <a:rPr lang="en-ID" dirty="0"/>
              <a:t>.</a:t>
            </a:r>
          </a:p>
          <a:p>
            <a:endParaRPr lang="en-ID" dirty="0"/>
          </a:p>
          <a:p>
            <a:endParaRPr lang="en-ID" dirty="0"/>
          </a:p>
          <a:p>
            <a:r>
              <a:rPr lang="en-ID" dirty="0"/>
              <a:t>Pada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validasi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measure </a:t>
            </a:r>
          </a:p>
          <a:p>
            <a:pPr marL="171450" indent="-171450">
              <a:buFontTx/>
              <a:buChar char="-"/>
            </a:pPr>
            <a:r>
              <a:rPr lang="en-ID" dirty="0" err="1"/>
              <a:t>agregasi</a:t>
            </a:r>
            <a:r>
              <a:rPr lang="en-ID" dirty="0"/>
              <a:t> Total Downtime dan </a:t>
            </a:r>
          </a:p>
          <a:p>
            <a:pPr marL="171450" indent="-171450">
              <a:buFontTx/>
              <a:buChar char="-"/>
            </a:pPr>
            <a:r>
              <a:rPr lang="en-ID" dirty="0"/>
              <a:t>Total Maintenance Cost </a:t>
            </a:r>
          </a:p>
          <a:p>
            <a:pPr marL="171450" indent="-171450">
              <a:buFontTx/>
              <a:buChar char="-"/>
            </a:pPr>
            <a:endParaRPr lang="en-ID" dirty="0"/>
          </a:p>
          <a:p>
            <a:pPr marL="0" indent="0">
              <a:buFontTx/>
              <a:buNone/>
            </a:pP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mendeteksi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kosong</a:t>
            </a:r>
            <a:r>
              <a:rPr lang="en-ID" dirty="0"/>
              <a:t>, </a:t>
            </a:r>
            <a:r>
              <a:rPr lang="en-ID" dirty="0" err="1"/>
              <a:t>nol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wajar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outlier.</a:t>
            </a:r>
          </a:p>
          <a:p>
            <a:pPr marL="0" indent="0">
              <a:buFontTx/>
              <a:buNone/>
            </a:pPr>
            <a:br>
              <a:rPr lang="en-ID" dirty="0"/>
            </a:b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contoh</a:t>
            </a:r>
            <a:r>
              <a:rPr lang="en-ID" dirty="0"/>
              <a:t>, </a:t>
            </a:r>
            <a:r>
              <a:rPr lang="en-ID" dirty="0" err="1"/>
              <a:t>nilai</a:t>
            </a:r>
            <a:r>
              <a:rPr lang="en-ID" dirty="0"/>
              <a:t> Month-over-Month yang </a:t>
            </a:r>
            <a:r>
              <a:rPr lang="en-ID" dirty="0" err="1"/>
              <a:t>kosong</a:t>
            </a:r>
            <a:r>
              <a:rPr lang="en-ID" dirty="0"/>
              <a:t> pada </a:t>
            </a:r>
            <a:r>
              <a:rPr lang="en-ID" dirty="0" err="1"/>
              <a:t>periode</a:t>
            </a:r>
            <a:r>
              <a:rPr lang="en-ID" dirty="0"/>
              <a:t> </a:t>
            </a:r>
            <a:r>
              <a:rPr lang="en-ID" dirty="0" err="1"/>
              <a:t>pertama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normal dan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ditangani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benar</a:t>
            </a:r>
            <a:r>
              <a:rPr lang="en-ID" dirty="0"/>
              <a:t> di Power BI.</a:t>
            </a:r>
            <a:br>
              <a:rPr lang="en-ID" dirty="0"/>
            </a:b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data </a:t>
            </a:r>
            <a:r>
              <a:rPr lang="en-ID" dirty="0" err="1"/>
              <a:t>layak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lanjutan</a:t>
            </a:r>
            <a:r>
              <a:rPr lang="en-ID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6FD2-3EF6-4627-8CED-17E741A56F3D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8437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bertujuan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downtime </a:t>
            </a:r>
            <a:r>
              <a:rPr lang="en-ID" dirty="0" err="1"/>
              <a:t>tersebar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equipment.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measure Total Downtime (Hours)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downtime </a:t>
            </a:r>
            <a:r>
              <a:rPr lang="en-ID" dirty="0" err="1"/>
              <a:t>tersebar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equipment.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ID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dirty="0" err="1"/>
              <a:t>Hasilnya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downtime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merata</a:t>
            </a:r>
            <a:r>
              <a:rPr lang="en-ID" dirty="0"/>
              <a:t>, di mana </a:t>
            </a:r>
            <a:r>
              <a:rPr lang="en-ID" dirty="0" err="1"/>
              <a:t>sebagian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equipment </a:t>
            </a:r>
            <a:r>
              <a:rPr lang="en-ID" dirty="0" err="1"/>
              <a:t>menyumbang</a:t>
            </a:r>
            <a:r>
              <a:rPr lang="en-ID" dirty="0"/>
              <a:t> downtime </a:t>
            </a:r>
            <a:r>
              <a:rPr lang="en-ID" dirty="0" err="1"/>
              <a:t>terbesar</a:t>
            </a:r>
            <a:r>
              <a:rPr lang="en-ID" dirty="0"/>
              <a:t>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ID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dirty="0" err="1"/>
              <a:t>Temuan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Top-N equipment </a:t>
            </a:r>
            <a:r>
              <a:rPr lang="en-ID" dirty="0" err="1"/>
              <a:t>dalam</a:t>
            </a:r>
            <a:r>
              <a:rPr lang="en-ID" dirty="0"/>
              <a:t> dashboard by Downtime pada dashboard Executive Overview dan Maintenance &amp;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6FD2-3EF6-4627-8CED-17E741A56F3D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8483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dirty="0" err="1"/>
              <a:t>Analisis</a:t>
            </a:r>
            <a:r>
              <a:rPr lang="en-ID" dirty="0"/>
              <a:t> downtime </a:t>
            </a:r>
            <a:r>
              <a:rPr lang="en-ID" dirty="0" err="1"/>
              <a:t>berdasarkan</a:t>
            </a:r>
            <a:r>
              <a:rPr lang="en-ID" dirty="0"/>
              <a:t> site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bersifat</a:t>
            </a:r>
            <a:r>
              <a:rPr lang="en-ID" dirty="0"/>
              <a:t> </a:t>
            </a:r>
            <a:r>
              <a:rPr lang="en-ID" dirty="0" err="1"/>
              <a:t>lokal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merata</a:t>
            </a:r>
            <a:r>
              <a:rPr lang="en-ID" dirty="0"/>
              <a:t> </a:t>
            </a:r>
            <a:r>
              <a:rPr lang="en-ID" dirty="0" err="1"/>
              <a:t>artinya</a:t>
            </a:r>
            <a:r>
              <a:rPr lang="en-ID" dirty="0"/>
              <a:t> site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perbedaan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yang </a:t>
            </a:r>
            <a:r>
              <a:rPr lang="en-ID" dirty="0" err="1"/>
              <a:t>signifikan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lokasi</a:t>
            </a:r>
            <a:r>
              <a:rPr lang="en-ID" dirty="0"/>
              <a:t>. </a:t>
            </a:r>
            <a:r>
              <a:rPr lang="en-GB" dirty="0" err="1"/>
              <a:t>Dengan</a:t>
            </a:r>
            <a:r>
              <a:rPr lang="en-GB" dirty="0"/>
              <a:t> </a:t>
            </a:r>
            <a:r>
              <a:rPr lang="en-GB" dirty="0" err="1"/>
              <a:t>menggunakan</a:t>
            </a:r>
            <a:r>
              <a:rPr lang="en-GB" dirty="0"/>
              <a:t> Total Downtime (Hours), </a:t>
            </a:r>
            <a:r>
              <a:rPr lang="en-GB" dirty="0" err="1"/>
              <a:t>Dengan</a:t>
            </a:r>
            <a:r>
              <a:rPr lang="en-GB" dirty="0"/>
              <a:t> </a:t>
            </a:r>
            <a:r>
              <a:rPr lang="en-GB" dirty="0" err="1"/>
              <a:t>menggunakan</a:t>
            </a:r>
            <a:r>
              <a:rPr lang="en-GB" dirty="0"/>
              <a:t> Total Downtime (Hours), </a:t>
            </a:r>
            <a:endParaRPr lang="en-ID" dirty="0"/>
          </a:p>
          <a:p>
            <a:pPr marL="0" indent="0">
              <a:buFont typeface="Wingdings" panose="05000000000000000000" pitchFamily="2" charset="2"/>
              <a:buNone/>
            </a:pPr>
            <a:endParaRPr lang="en-ID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gap </a:t>
            </a:r>
            <a:r>
              <a:rPr lang="en-ID" dirty="0" err="1"/>
              <a:t>signifikan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lokasi</a:t>
            </a:r>
            <a:r>
              <a:rPr lang="en-ID" dirty="0"/>
              <a:t>, yang </a:t>
            </a:r>
            <a:r>
              <a:rPr lang="en-ID" dirty="0" err="1"/>
              <a:t>mengindikasikan</a:t>
            </a:r>
            <a:r>
              <a:rPr lang="en-ID" dirty="0"/>
              <a:t> </a:t>
            </a:r>
            <a:r>
              <a:rPr lang="en-ID" dirty="0" err="1"/>
              <a:t>perbedaan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, </a:t>
            </a:r>
            <a:r>
              <a:rPr lang="en-ID" dirty="0" err="1"/>
              <a:t>lingkungan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praktik</a:t>
            </a:r>
            <a:r>
              <a:rPr lang="en-ID" dirty="0"/>
              <a:t> maintenance.</a:t>
            </a:r>
          </a:p>
          <a:p>
            <a:endParaRPr lang="en-ID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dirty="0"/>
              <a:t>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kebutuhan</a:t>
            </a:r>
            <a:r>
              <a:rPr lang="en-ID" dirty="0"/>
              <a:t> visual Downtime by Site pada dashboard Executive Overview dan Maintenance &amp; Operations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prioritas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lokasi</a:t>
            </a:r>
            <a:r>
              <a:rPr lang="en-ID" dirty="0"/>
              <a:t>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ID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ID" dirty="0"/>
              <a:t>Oleh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,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lokasi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dashboard.</a:t>
            </a:r>
          </a:p>
          <a:p>
            <a:endParaRPr lang="en-ID" dirty="0"/>
          </a:p>
          <a:p>
            <a:br>
              <a:rPr lang="en-ID" dirty="0"/>
            </a:b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6FD2-3EF6-4627-8CED-17E741A56F3D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2132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D" dirty="0" err="1"/>
              <a:t>Analisis</a:t>
            </a:r>
            <a:r>
              <a:rPr lang="en-ID" dirty="0"/>
              <a:t> time series </a:t>
            </a:r>
            <a:r>
              <a:rPr lang="en-ID" dirty="0" err="1"/>
              <a:t>memperlihatkan</a:t>
            </a:r>
            <a:r>
              <a:rPr lang="en-ID" dirty="0"/>
              <a:t> </a:t>
            </a:r>
            <a:r>
              <a:rPr lang="en-ID" dirty="0" err="1"/>
              <a:t>fluktuasi</a:t>
            </a:r>
            <a:r>
              <a:rPr lang="en-ID" dirty="0"/>
              <a:t> downtime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periode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lonjakan</a:t>
            </a:r>
            <a:r>
              <a:rPr lang="en-ID" dirty="0"/>
              <a:t> </a:t>
            </a:r>
            <a:r>
              <a:rPr lang="en-ID" dirty="0" err="1"/>
              <a:t>signifikan</a:t>
            </a:r>
            <a:r>
              <a:rPr lang="en-ID" dirty="0"/>
              <a:t>. </a:t>
            </a:r>
            <a:r>
              <a:rPr lang="en-ID" dirty="0" err="1"/>
              <a:t>Analisis</a:t>
            </a:r>
            <a:r>
              <a:rPr lang="en-ID" dirty="0"/>
              <a:t> time series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Total Downtime (Hours)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tren</a:t>
            </a:r>
            <a:r>
              <a:rPr lang="en-ID" dirty="0"/>
              <a:t> </a:t>
            </a:r>
            <a:r>
              <a:rPr lang="en-ID" dirty="0" err="1"/>
              <a:t>bulanan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Downtime MoM %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ID" dirty="0"/>
              <a:t>   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ID" dirty="0"/>
              <a:t>     Di </a:t>
            </a:r>
            <a:r>
              <a:rPr lang="en-ID" dirty="0" err="1"/>
              <a:t>sini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tren</a:t>
            </a:r>
            <a:r>
              <a:rPr lang="en-ID" dirty="0"/>
              <a:t> downtime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.</a:t>
            </a:r>
            <a:br>
              <a:rPr lang="en-ID" dirty="0"/>
            </a:br>
            <a:endParaRPr lang="en-ID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dirty="0" err="1"/>
              <a:t>Teridentifikasi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dirty="0" err="1"/>
              <a:t>fluktuasi</a:t>
            </a:r>
            <a:r>
              <a:rPr lang="en-ID" dirty="0"/>
              <a:t> dan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periode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lonjakan</a:t>
            </a:r>
            <a:r>
              <a:rPr lang="en-ID" dirty="0"/>
              <a:t> downtime, yang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pentingnya</a:t>
            </a:r>
            <a:r>
              <a:rPr lang="en-ID" dirty="0"/>
              <a:t> </a:t>
            </a:r>
            <a:r>
              <a:rPr lang="en-ID" dirty="0" err="1"/>
              <a:t>pemantauan</a:t>
            </a:r>
            <a:r>
              <a:rPr lang="en-ID" dirty="0"/>
              <a:t> </a:t>
            </a:r>
            <a:r>
              <a:rPr lang="en-ID" dirty="0" err="1"/>
              <a:t>tren</a:t>
            </a:r>
            <a:r>
              <a:rPr lang="en-ID" dirty="0"/>
              <a:t> dan </a:t>
            </a:r>
            <a:r>
              <a:rPr lang="en-ID" dirty="0" err="1"/>
              <a:t>indikator</a:t>
            </a:r>
            <a:r>
              <a:rPr lang="en-ID" dirty="0"/>
              <a:t>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.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ID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membangun</a:t>
            </a:r>
            <a:r>
              <a:rPr lang="en-ID" dirty="0"/>
              <a:t> visual </a:t>
            </a:r>
            <a:r>
              <a:rPr lang="en-ID" dirty="0" err="1"/>
              <a:t>tren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Downtime Trend dan </a:t>
            </a:r>
            <a:r>
              <a:rPr lang="en-ID" dirty="0" err="1"/>
              <a:t>perbandingan</a:t>
            </a:r>
            <a:r>
              <a:rPr lang="en-ID" dirty="0"/>
              <a:t> Month-over-Month (KPI Downtime MoM % ) pada dashboard Executive dan Operations.</a:t>
            </a:r>
            <a:br>
              <a:rPr lang="en-ID" dirty="0"/>
            </a:b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6FD2-3EF6-4627-8CED-17E741A56F3D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5289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membandingkan</a:t>
            </a:r>
            <a:r>
              <a:rPr lang="en-ID" dirty="0"/>
              <a:t> downtime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maintenance. Pada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Total Maintenance Cost </a:t>
            </a:r>
            <a:r>
              <a:rPr lang="en-ID" dirty="0" err="1"/>
              <a:t>dibandingkan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Total Downtime (Hours)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dan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. </a:t>
            </a:r>
            <a:r>
              <a:rPr lang="en-ID" dirty="0" err="1"/>
              <a:t>Perbandingan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maintenance dan downtime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keduanya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bergerak</a:t>
            </a:r>
            <a:r>
              <a:rPr lang="en-ID" dirty="0"/>
              <a:t> </a:t>
            </a:r>
            <a:r>
              <a:rPr lang="en-ID" dirty="0" err="1"/>
              <a:t>sejalan</a:t>
            </a:r>
            <a:r>
              <a:rPr lang="en-ID" dirty="0"/>
              <a:t> </a:t>
            </a:r>
            <a:r>
              <a:rPr lang="en-ID" dirty="0" err="1"/>
              <a:t>artinya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sejalan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downtime, </a:t>
            </a:r>
            <a:r>
              <a:rPr lang="en-ID" dirty="0" err="1"/>
              <a:t>misalnya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namun</a:t>
            </a:r>
            <a:r>
              <a:rPr lang="en-ID" dirty="0"/>
              <a:t> downtime </a:t>
            </a:r>
            <a:r>
              <a:rPr lang="en-ID" dirty="0" err="1"/>
              <a:t>relatif</a:t>
            </a:r>
            <a:r>
              <a:rPr lang="en-ID" dirty="0"/>
              <a:t> </a:t>
            </a:r>
            <a:r>
              <a:rPr lang="en-ID" dirty="0" err="1"/>
              <a:t>rendah</a:t>
            </a:r>
            <a:r>
              <a:rPr lang="en-ID" dirty="0"/>
              <a:t>.  Ada </a:t>
            </a:r>
            <a:r>
              <a:rPr lang="en-ID" dirty="0" err="1"/>
              <a:t>kondisi</a:t>
            </a:r>
            <a:r>
              <a:rPr lang="en-ID" dirty="0"/>
              <a:t> di mana </a:t>
            </a: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tetapi</a:t>
            </a:r>
            <a:r>
              <a:rPr lang="en-ID" dirty="0"/>
              <a:t> downtime </a:t>
            </a:r>
            <a:r>
              <a:rPr lang="en-ID" dirty="0" err="1"/>
              <a:t>relatif</a:t>
            </a:r>
            <a:r>
              <a:rPr lang="en-ID" dirty="0"/>
              <a:t> </a:t>
            </a:r>
            <a:r>
              <a:rPr lang="en-ID" dirty="0" err="1"/>
              <a:t>rendah</a:t>
            </a:r>
            <a:r>
              <a:rPr lang="en-ID" dirty="0"/>
              <a:t>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ID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dirty="0"/>
              <a:t>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mengindikasikan</a:t>
            </a:r>
            <a:r>
              <a:rPr lang="en-ID" dirty="0"/>
              <a:t> </a:t>
            </a:r>
            <a:r>
              <a:rPr lang="en-ID" dirty="0" err="1"/>
              <a:t>potensi</a:t>
            </a:r>
            <a:r>
              <a:rPr lang="en-ID" dirty="0"/>
              <a:t> </a:t>
            </a:r>
            <a:r>
              <a:rPr lang="en-ID" dirty="0" err="1"/>
              <a:t>inefisiensi</a:t>
            </a:r>
            <a:r>
              <a:rPr lang="en-ID" dirty="0"/>
              <a:t> dan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pembuatan</a:t>
            </a:r>
            <a:r>
              <a:rPr lang="en-ID" dirty="0"/>
              <a:t> </a:t>
            </a:r>
            <a:r>
              <a:rPr lang="en-ID" dirty="0" err="1"/>
              <a:t>metrik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Cost per Downtime Hour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menilai</a:t>
            </a:r>
            <a:r>
              <a:rPr lang="en-ID" dirty="0"/>
              <a:t> </a:t>
            </a:r>
            <a:r>
              <a:rPr lang="en-ID" dirty="0" err="1"/>
              <a:t>efisiensi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maintenance.</a:t>
            </a:r>
          </a:p>
          <a:p>
            <a:endParaRPr lang="en-ID" dirty="0"/>
          </a:p>
          <a:p>
            <a:r>
              <a:rPr lang="en-ID" dirty="0"/>
              <a:t>Insight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mendorong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visual </a:t>
            </a:r>
            <a:r>
              <a:rPr lang="en-ID" dirty="0" err="1"/>
              <a:t>dengan</a:t>
            </a:r>
            <a:r>
              <a:rPr lang="en-ID" dirty="0"/>
              <a:t> measure : </a:t>
            </a:r>
          </a:p>
          <a:p>
            <a:endParaRPr lang="en-ID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dirty="0"/>
              <a:t>Cost vs Downtime Trend </a:t>
            </a:r>
            <a:r>
              <a:rPr lang="en-ID" dirty="0" err="1"/>
              <a:t>serta</a:t>
            </a:r>
            <a:r>
              <a:rPr lang="en-ID" dirty="0"/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ID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dirty="0" err="1"/>
              <a:t>metrik</a:t>
            </a:r>
            <a:r>
              <a:rPr lang="en-ID" dirty="0"/>
              <a:t> </a:t>
            </a:r>
            <a:r>
              <a:rPr lang="en-ID" dirty="0" err="1"/>
              <a:t>efisiensi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Cost per Downtime Hour pada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6FD2-3EF6-4627-8CED-17E741A56F3D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0712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ID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dirty="0" err="1"/>
              <a:t>Analisis</a:t>
            </a:r>
            <a:r>
              <a:rPr lang="en-ID" dirty="0"/>
              <a:t> downtime </a:t>
            </a:r>
            <a:r>
              <a:rPr lang="en-ID" dirty="0" err="1"/>
              <a:t>berdasarkan</a:t>
            </a:r>
            <a:r>
              <a:rPr lang="en-ID" dirty="0"/>
              <a:t> failure group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Pareto, di mana </a:t>
            </a:r>
            <a:r>
              <a:rPr lang="en-ID" dirty="0" err="1"/>
              <a:t>sebagian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</a:t>
            </a:r>
            <a:r>
              <a:rPr lang="en-ID" dirty="0" err="1"/>
              <a:t>penyebab</a:t>
            </a:r>
            <a:r>
              <a:rPr lang="en-ID" dirty="0"/>
              <a:t> </a:t>
            </a:r>
            <a:r>
              <a:rPr lang="en-ID" dirty="0" err="1"/>
              <a:t>menyumbang</a:t>
            </a:r>
            <a:r>
              <a:rPr lang="en-ID" dirty="0"/>
              <a:t> </a:t>
            </a:r>
            <a:r>
              <a:rPr lang="en-ID" dirty="0" err="1"/>
              <a:t>sebagian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downtime.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ID" dirty="0"/>
              <a:t>    </a:t>
            </a:r>
            <a:r>
              <a:rPr lang="en-ID" dirty="0" err="1"/>
              <a:t>Analisis</a:t>
            </a:r>
            <a:r>
              <a:rPr lang="en-ID" dirty="0"/>
              <a:t> root cause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mengelompokkan</a:t>
            </a:r>
            <a:r>
              <a:rPr lang="en-ID" dirty="0"/>
              <a:t> downtime </a:t>
            </a:r>
            <a:r>
              <a:rPr lang="en-ID" dirty="0" err="1"/>
              <a:t>berdasarkan</a:t>
            </a:r>
            <a:r>
              <a:rPr lang="en-ID" dirty="0"/>
              <a:t> failure group </a:t>
            </a:r>
            <a:r>
              <a:rPr lang="en-ID" dirty="0" err="1"/>
              <a:t>menggunakan</a:t>
            </a:r>
            <a:r>
              <a:rPr lang="en-ID" dirty="0"/>
              <a:t> Total Downtime (Hours).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ID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dirty="0"/>
              <a:t>Downtime Contribution %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mengidentifikasi</a:t>
            </a:r>
            <a:r>
              <a:rPr lang="en-ID" dirty="0"/>
              <a:t> failure </a:t>
            </a:r>
            <a:r>
              <a:rPr lang="en-ID" dirty="0" err="1"/>
              <a:t>dominan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prinsip</a:t>
            </a:r>
            <a:r>
              <a:rPr lang="en-ID" dirty="0"/>
              <a:t> Pareto (80/20).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ID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dirty="0"/>
              <a:t>Total Maintenance Cost </a:t>
            </a:r>
            <a:r>
              <a:rPr lang="en-ID" dirty="0" err="1"/>
              <a:t>melengkapi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perspektif</a:t>
            </a:r>
            <a:r>
              <a:rPr lang="en-ID" dirty="0"/>
              <a:t> </a:t>
            </a:r>
            <a:r>
              <a:rPr lang="en-ID" dirty="0" err="1"/>
              <a:t>finansial</a:t>
            </a:r>
            <a:r>
              <a:rPr lang="en-ID" dirty="0"/>
              <a:t>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ID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dirty="0" err="1"/>
              <a:t>Hasilnya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Pareto, di mana </a:t>
            </a:r>
            <a:r>
              <a:rPr lang="en-ID" dirty="0" err="1"/>
              <a:t>sebagian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failure group </a:t>
            </a:r>
            <a:r>
              <a:rPr lang="en-ID" dirty="0" err="1"/>
              <a:t>menyumbang</a:t>
            </a:r>
            <a:r>
              <a:rPr lang="en-ID" dirty="0"/>
              <a:t> </a:t>
            </a:r>
            <a:r>
              <a:rPr lang="en-ID" dirty="0" err="1"/>
              <a:t>sebagian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downtime.</a:t>
            </a:r>
            <a:br>
              <a:rPr lang="en-ID" dirty="0"/>
            </a:br>
            <a:endParaRPr lang="en-ID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D" dirty="0" err="1"/>
              <a:t>Temuan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fondasi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pembuatan</a:t>
            </a:r>
            <a:r>
              <a:rPr lang="en-ID" dirty="0"/>
              <a:t> dashboard RCA &amp; Risk Analysis yang </a:t>
            </a:r>
            <a:r>
              <a:rPr lang="en-ID" dirty="0" err="1"/>
              <a:t>berfokus</a:t>
            </a:r>
            <a:r>
              <a:rPr lang="en-ID" dirty="0"/>
              <a:t> pada </a:t>
            </a:r>
            <a:r>
              <a:rPr lang="en-ID" dirty="0" err="1"/>
              <a:t>penyebab</a:t>
            </a:r>
            <a:r>
              <a:rPr lang="en-ID" dirty="0"/>
              <a:t> </a:t>
            </a:r>
            <a:r>
              <a:rPr lang="en-ID" dirty="0" err="1"/>
              <a:t>dominan</a:t>
            </a:r>
            <a:r>
              <a:rPr lang="en-ID" dirty="0"/>
              <a:t> dan </a:t>
            </a:r>
            <a:r>
              <a:rPr lang="en-ID" dirty="0" err="1"/>
              <a:t>prioritas</a:t>
            </a:r>
            <a:r>
              <a:rPr lang="en-ID" dirty="0"/>
              <a:t> </a:t>
            </a:r>
            <a:r>
              <a:rPr lang="en-ID" dirty="0" err="1"/>
              <a:t>tindakan</a:t>
            </a:r>
            <a:r>
              <a:rPr lang="en-ID" dirty="0"/>
              <a:t>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ID" dirty="0"/>
          </a:p>
          <a:p>
            <a:pPr marL="0" indent="0">
              <a:buFont typeface="Wingdings" panose="05000000000000000000" pitchFamily="2" charset="2"/>
              <a:buNone/>
            </a:pP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6FD2-3EF6-4627-8CED-17E741A56F3D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04828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ID" dirty="0"/>
              <a:t>Pada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reliability dan </a:t>
            </a:r>
            <a:r>
              <a:rPr lang="en-ID" dirty="0" err="1"/>
              <a:t>efisiensi</a:t>
            </a:r>
            <a:r>
              <a:rPr lang="en-ID" dirty="0"/>
              <a:t> maintenance </a:t>
            </a:r>
            <a:r>
              <a:rPr lang="en-ID" dirty="0" err="1"/>
              <a:t>dianalisis</a:t>
            </a:r>
            <a:endParaRPr lang="en-ID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ID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D" dirty="0" err="1"/>
              <a:t>Metrik</a:t>
            </a:r>
            <a:r>
              <a:rPr lang="en-ID" dirty="0"/>
              <a:t> reliability dan </a:t>
            </a:r>
            <a:r>
              <a:rPr lang="en-ID" dirty="0" err="1"/>
              <a:t>efisiensi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MTBF, repair hours, dan cost per work order </a:t>
            </a:r>
            <a:r>
              <a:rPr lang="en-ID" dirty="0" err="1"/>
              <a:t>dianalisis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membedakan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dan effort maintenance.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ID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D" dirty="0"/>
              <a:t>MTBF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mengukur</a:t>
            </a:r>
            <a:r>
              <a:rPr lang="en-ID" dirty="0"/>
              <a:t> </a:t>
            </a:r>
            <a:r>
              <a:rPr lang="en-ID" dirty="0" err="1"/>
              <a:t>keandalan</a:t>
            </a:r>
            <a:r>
              <a:rPr lang="en-ID" dirty="0"/>
              <a:t> equipment,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ID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D" dirty="0"/>
              <a:t>Total Repair Hours dan Total Work Orders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beban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tim</a:t>
            </a:r>
            <a:r>
              <a:rPr lang="en-ID" dirty="0"/>
              <a:t> maintenance.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ID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D" dirty="0"/>
              <a:t>Cost per Work Order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menilai</a:t>
            </a:r>
            <a:r>
              <a:rPr lang="en-ID" dirty="0"/>
              <a:t> </a:t>
            </a:r>
            <a:r>
              <a:rPr lang="en-ID" dirty="0" err="1"/>
              <a:t>efisiensi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per </a:t>
            </a:r>
            <a:r>
              <a:rPr lang="en-ID" dirty="0" err="1"/>
              <a:t>pekerjaan</a:t>
            </a:r>
            <a:r>
              <a:rPr lang="en-ID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ID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membedakan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aset</a:t>
            </a:r>
            <a:r>
              <a:rPr lang="en-ID" dirty="0"/>
              <a:t> yang </a:t>
            </a:r>
            <a:r>
              <a:rPr lang="en-ID" dirty="0" err="1"/>
              <a:t>berdampak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dan </a:t>
            </a:r>
            <a:r>
              <a:rPr lang="en-ID" dirty="0" err="1"/>
              <a:t>aset</a:t>
            </a:r>
            <a:r>
              <a:rPr lang="en-ID" dirty="0"/>
              <a:t> yang </a:t>
            </a:r>
            <a:r>
              <a:rPr lang="en-ID" dirty="0" err="1"/>
              <a:t>menyita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effort maintenance.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ID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D" dirty="0" err="1"/>
              <a:t>Hasilnya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pemisahan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impact dan workload di dashboard Operations.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ID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ID" dirty="0" err="1"/>
              <a:t>Inilah</a:t>
            </a:r>
            <a:r>
              <a:rPr lang="en-ID" dirty="0"/>
              <a:t> </a:t>
            </a:r>
            <a:r>
              <a:rPr lang="en-ID" dirty="0" err="1"/>
              <a:t>alasan</a:t>
            </a:r>
            <a:r>
              <a:rPr lang="en-ID" dirty="0"/>
              <a:t> </a:t>
            </a:r>
            <a:r>
              <a:rPr lang="en-ID" dirty="0" err="1"/>
              <a:t>mengapa</a:t>
            </a:r>
            <a:r>
              <a:rPr lang="en-ID" dirty="0"/>
              <a:t> </a:t>
            </a:r>
            <a:r>
              <a:rPr lang="en-ID" dirty="0" err="1"/>
              <a:t>metrik</a:t>
            </a:r>
            <a:r>
              <a:rPr lang="en-ID" dirty="0"/>
              <a:t> workload dan </a:t>
            </a:r>
            <a:r>
              <a:rPr lang="en-ID" dirty="0" err="1"/>
              <a:t>efisiensi</a:t>
            </a:r>
            <a:r>
              <a:rPr lang="en-ID" dirty="0"/>
              <a:t> </a:t>
            </a:r>
            <a:r>
              <a:rPr lang="en-ID" dirty="0" err="1"/>
              <a:t>ditempatkan</a:t>
            </a:r>
            <a:r>
              <a:rPr lang="en-ID" dirty="0"/>
              <a:t> di dashboard Maintenance &amp; Operations, </a:t>
            </a:r>
            <a:r>
              <a:rPr lang="en-ID" dirty="0" err="1"/>
              <a:t>sementara</a:t>
            </a:r>
            <a:r>
              <a:rPr lang="en-ID" dirty="0"/>
              <a:t> </a:t>
            </a:r>
            <a:r>
              <a:rPr lang="en-ID" dirty="0" err="1"/>
              <a:t>metrik</a:t>
            </a:r>
            <a:r>
              <a:rPr lang="en-ID" dirty="0"/>
              <a:t> reliability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pada dashboard RCA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6FD2-3EF6-4627-8CED-17E741A56F3D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94309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dirty="0"/>
              <a:t>Slide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merangkum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temuan</a:t>
            </a:r>
            <a:r>
              <a:rPr lang="en-ID" dirty="0"/>
              <a:t> EDA </a:t>
            </a:r>
            <a:r>
              <a:rPr lang="en-ID" dirty="0" err="1"/>
              <a:t>diterjemahkan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dashboard Power BI.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D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GB" dirty="0"/>
              <a:t>Downtime metrics </a:t>
            </a:r>
            <a:r>
              <a:rPr lang="en-ID" dirty="0"/>
              <a:t>dan </a:t>
            </a:r>
            <a:r>
              <a:rPr lang="en-GB" dirty="0"/>
              <a:t>Cost metrics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Executive Overview,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ID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GB" dirty="0"/>
              <a:t>Workload metrics </a:t>
            </a:r>
            <a:r>
              <a:rPr lang="en-ID" dirty="0" err="1"/>
              <a:t>mendukung</a:t>
            </a:r>
            <a:r>
              <a:rPr lang="en-ID" dirty="0"/>
              <a:t> Maintenance &amp; Operations, </a:t>
            </a:r>
            <a:r>
              <a:rPr lang="en-ID" dirty="0" err="1"/>
              <a:t>sedangkan</a:t>
            </a:r>
            <a:r>
              <a:rPr lang="en-ID" dirty="0"/>
              <a:t> </a:t>
            </a:r>
            <a:r>
              <a:rPr lang="en-GB" dirty="0"/>
              <a:t>Reliability metrics 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RCA &amp; Risk Analysis.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ID" dirty="0"/>
            </a:br>
            <a:r>
              <a:rPr lang="en-ID" dirty="0" err="1"/>
              <a:t>Setiap</a:t>
            </a:r>
            <a:r>
              <a:rPr lang="en-ID" dirty="0"/>
              <a:t> visual dan KPI yang </a:t>
            </a:r>
            <a:r>
              <a:rPr lang="en-ID" dirty="0" err="1"/>
              <a:t>dibangun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eksplorasi</a:t>
            </a:r>
            <a:r>
              <a:rPr lang="en-ID" dirty="0"/>
              <a:t> data yang </a:t>
            </a:r>
            <a:r>
              <a:rPr lang="en-ID" dirty="0" err="1"/>
              <a:t>jelas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dashboard </a:t>
            </a:r>
            <a:r>
              <a:rPr lang="en-ID" dirty="0" err="1"/>
              <a:t>bersifat</a:t>
            </a:r>
            <a:r>
              <a:rPr lang="en-ID" dirty="0"/>
              <a:t> </a:t>
            </a:r>
            <a:r>
              <a:rPr lang="en-ID" dirty="0" err="1"/>
              <a:t>logis</a:t>
            </a:r>
            <a:r>
              <a:rPr lang="en-ID" dirty="0"/>
              <a:t>, </a:t>
            </a:r>
            <a:r>
              <a:rPr lang="en-ID" dirty="0" err="1"/>
              <a:t>konsisten</a:t>
            </a:r>
            <a:r>
              <a:rPr lang="en-ID" dirty="0"/>
              <a:t>, dan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dipertanggungjawabkan</a:t>
            </a:r>
            <a:r>
              <a:rPr lang="en-ID" dirty="0"/>
              <a:t>.</a:t>
            </a:r>
          </a:p>
          <a:p>
            <a:endParaRPr lang="en-ID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dirty="0"/>
              <a:t>Executive Overview </a:t>
            </a:r>
            <a:r>
              <a:rPr lang="en-ID" dirty="0" err="1"/>
              <a:t>fokus</a:t>
            </a:r>
            <a:r>
              <a:rPr lang="en-ID" dirty="0"/>
              <a:t> pada </a:t>
            </a:r>
            <a:r>
              <a:rPr lang="en-ID" dirty="0" err="1"/>
              <a:t>sinyal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dan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, </a:t>
            </a:r>
          </a:p>
          <a:p>
            <a:endParaRPr lang="en-ID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dirty="0"/>
              <a:t>Maintenance &amp; Operations </a:t>
            </a:r>
            <a:r>
              <a:rPr lang="en-ID" dirty="0" err="1"/>
              <a:t>fokus</a:t>
            </a:r>
            <a:r>
              <a:rPr lang="en-ID" dirty="0"/>
              <a:t> pada </a:t>
            </a:r>
            <a:r>
              <a:rPr lang="en-ID" dirty="0" err="1"/>
              <a:t>eksekusi</a:t>
            </a:r>
            <a:r>
              <a:rPr lang="en-ID" dirty="0"/>
              <a:t> dan </a:t>
            </a:r>
            <a:r>
              <a:rPr lang="en-ID" dirty="0" err="1"/>
              <a:t>beban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, </a:t>
            </a:r>
          </a:p>
          <a:p>
            <a:endParaRPr lang="en-ID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dirty="0" err="1"/>
              <a:t>sedangkan</a:t>
            </a:r>
            <a:r>
              <a:rPr lang="en-ID" dirty="0"/>
              <a:t> RCA &amp; Risk Analysis </a:t>
            </a:r>
            <a:r>
              <a:rPr lang="en-ID" dirty="0" err="1"/>
              <a:t>fokus</a:t>
            </a:r>
            <a:r>
              <a:rPr lang="en-ID" dirty="0"/>
              <a:t> pada </a:t>
            </a:r>
            <a:r>
              <a:rPr lang="en-ID" dirty="0" err="1"/>
              <a:t>pemahaman</a:t>
            </a:r>
            <a:r>
              <a:rPr lang="en-ID" dirty="0"/>
              <a:t> </a:t>
            </a:r>
            <a:r>
              <a:rPr lang="en-ID" dirty="0" err="1"/>
              <a:t>akar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dan </a:t>
            </a:r>
            <a:r>
              <a:rPr lang="en-ID" dirty="0" err="1"/>
              <a:t>prioritas</a:t>
            </a:r>
            <a:r>
              <a:rPr lang="en-ID" dirty="0"/>
              <a:t> </a:t>
            </a:r>
            <a:r>
              <a:rPr lang="en-ID" dirty="0" err="1"/>
              <a:t>perbaikan</a:t>
            </a:r>
            <a:r>
              <a:rPr lang="en-ID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6FD2-3EF6-4627-8CED-17E741A56F3D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9004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Kesimpulannya</a:t>
            </a:r>
            <a:r>
              <a:rPr lang="en-ID" dirty="0"/>
              <a:t>, </a:t>
            </a:r>
          </a:p>
          <a:p>
            <a:endParaRPr lang="en-ID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dirty="0"/>
              <a:t>dashboard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dibangun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terpisah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data.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ID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dirty="0"/>
              <a:t>Dashboard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proses EDA yang </a:t>
            </a:r>
            <a:r>
              <a:rPr lang="en-ID" dirty="0" err="1"/>
              <a:t>terstruktur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insight yang </a:t>
            </a:r>
            <a:r>
              <a:rPr lang="en-ID" dirty="0" err="1"/>
              <a:t>dihasilkan</a:t>
            </a:r>
            <a:r>
              <a:rPr lang="en-ID" dirty="0"/>
              <a:t> </a:t>
            </a:r>
            <a:r>
              <a:rPr lang="en-ID" dirty="0" err="1"/>
              <a:t>relevan</a:t>
            </a:r>
            <a:r>
              <a:rPr lang="en-ID" dirty="0"/>
              <a:t>, </a:t>
            </a:r>
            <a:r>
              <a:rPr lang="en-ID" dirty="0" err="1"/>
              <a:t>konsisten</a:t>
            </a:r>
            <a:r>
              <a:rPr lang="en-ID" dirty="0"/>
              <a:t>, dan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ditindaklanjut</a:t>
            </a:r>
            <a:endParaRPr lang="en-ID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ID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dirty="0"/>
              <a:t>Proses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dashboard yang </a:t>
            </a:r>
            <a:r>
              <a:rPr lang="en-ID" dirty="0" err="1"/>
              <a:t>dihasilkan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informatif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juga actionable dan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data.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ID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D" dirty="0"/>
              <a:t>EDA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fondasi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keseluruhan</a:t>
            </a:r>
            <a:r>
              <a:rPr lang="en-ID" dirty="0"/>
              <a:t> </a:t>
            </a:r>
            <a:r>
              <a:rPr lang="en-ID" dirty="0" err="1"/>
              <a:t>solusi</a:t>
            </a:r>
            <a:r>
              <a:rPr lang="en-ID" dirty="0"/>
              <a:t> analytics.</a:t>
            </a:r>
          </a:p>
          <a:p>
            <a:endParaRPr lang="en-ID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dirty="0" err="1"/>
              <a:t>Penjelasan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proses EDA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membentuk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dashboard Power BI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maintenance.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6FD2-3EF6-4627-8CED-17E741A56F3D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0288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BE6FD2-3EF6-4627-8CED-17E741A56F3D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6199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2BD3-C3E0-4F56-9A3D-15C92A93DC30}" type="datetimeFigureOut">
              <a:rPr lang="en-ID" smtClean="0"/>
              <a:t>30/12/2025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2B21-3BFB-4123-8D57-FE7AA5433F8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6326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AFD2BD3-C3E0-4F56-9A3D-15C92A93DC30}" type="datetimeFigureOut">
              <a:rPr lang="en-ID" smtClean="0"/>
              <a:t>30/12/2025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6702B21-3BFB-4123-8D57-FE7AA5433F8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10944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F1B4A48-09BB-9B9F-1539-FC62A2838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35" y="517474"/>
            <a:ext cx="1419560" cy="972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4192" y="721899"/>
            <a:ext cx="8870066" cy="1643683"/>
          </a:xfrm>
        </p:spPr>
        <p:txBody>
          <a:bodyPr>
            <a:normAutofit/>
          </a:bodyPr>
          <a:lstStyle/>
          <a:p>
            <a:pPr algn="ctr"/>
            <a:r>
              <a:rPr b="1" dirty="0">
                <a:solidFill>
                  <a:srgbClr val="FFFF00"/>
                </a:solidFill>
                <a:latin typeface="+mn-lt"/>
              </a:rPr>
              <a:t>Exploratory Data Analysis (EDA)</a:t>
            </a:r>
          </a:p>
          <a:p>
            <a:pPr algn="ctr"/>
            <a:r>
              <a:rPr b="1" dirty="0">
                <a:solidFill>
                  <a:srgbClr val="FFFF00"/>
                </a:solidFill>
                <a:latin typeface="+mn-lt"/>
              </a:rPr>
              <a:t>Maintenance 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3775" y="2904539"/>
            <a:ext cx="9570334" cy="10992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FF00"/>
                </a:solidFill>
              </a:rPr>
              <a:t> </a:t>
            </a:r>
            <a:r>
              <a:rPr sz="3200" b="1" dirty="0">
                <a:solidFill>
                  <a:srgbClr val="FFFF00"/>
                </a:solidFill>
              </a:rPr>
              <a:t>From data exploration to actionable dashboards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2EADE-8840-95FC-69AD-8E5C50834DEF}"/>
              </a:ext>
            </a:extLst>
          </p:cNvPr>
          <p:cNvSpPr txBox="1"/>
          <p:nvPr/>
        </p:nvSpPr>
        <p:spPr>
          <a:xfrm>
            <a:off x="3522845" y="4852594"/>
            <a:ext cx="5451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i="1" dirty="0">
                <a:solidFill>
                  <a:srgbClr val="FFFF00"/>
                </a:solidFill>
              </a:rPr>
              <a:t>Presented by: Achmad Surya Andono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0287" y="1269357"/>
            <a:ext cx="10131425" cy="1456267"/>
          </a:xfrm>
        </p:spPr>
        <p:txBody>
          <a:bodyPr>
            <a:normAutofit/>
          </a:bodyPr>
          <a:lstStyle/>
          <a:p>
            <a:r>
              <a:rPr sz="5400" b="1" dirty="0">
                <a:solidFill>
                  <a:srgbClr val="FFFF00"/>
                </a:solidFill>
                <a:latin typeface="+mn-lt"/>
              </a:rPr>
              <a:t>Objective of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5291" y="2987021"/>
            <a:ext cx="7772400" cy="2064172"/>
          </a:xfrm>
        </p:spPr>
        <p:txBody>
          <a:bodyPr>
            <a:normAutofit fontScale="92500" lnSpcReduction="20000"/>
          </a:bodyPr>
          <a:lstStyle/>
          <a:p>
            <a:r>
              <a:rPr sz="3200" dirty="0"/>
              <a:t>Understand maintenance data characteristics</a:t>
            </a:r>
          </a:p>
          <a:p>
            <a:r>
              <a:rPr sz="3200" dirty="0"/>
              <a:t>Identify baseline patterns</a:t>
            </a:r>
          </a:p>
          <a:p>
            <a:r>
              <a:rPr sz="3200" dirty="0"/>
              <a:t>Validate KPIs and metrics</a:t>
            </a:r>
          </a:p>
          <a:p>
            <a:r>
              <a:rPr sz="3200" dirty="0"/>
              <a:t>Support dashboard and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409" y="179409"/>
            <a:ext cx="10131425" cy="1456267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rgbClr val="FFFF00"/>
                </a:solidFill>
                <a:latin typeface="+mn-lt"/>
              </a:rPr>
              <a:t>Data Overview &amp; Grain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8075" y="1371386"/>
            <a:ext cx="10020781" cy="5191460"/>
          </a:xfrm>
        </p:spPr>
        <p:txBody>
          <a:bodyPr>
            <a:noAutofit/>
          </a:bodyPr>
          <a:lstStyle/>
          <a:p>
            <a:r>
              <a:rPr sz="3200" dirty="0"/>
              <a:t>Event-based maintenance data</a:t>
            </a:r>
          </a:p>
          <a:p>
            <a:r>
              <a:rPr sz="3200" dirty="0"/>
              <a:t>Grain: 1 equipment – 1 site – 1 date – 1 failure</a:t>
            </a:r>
          </a:p>
          <a:p>
            <a:r>
              <a:rPr lang="en-GB" sz="3200" dirty="0"/>
              <a:t>Key fields: </a:t>
            </a:r>
          </a:p>
          <a:p>
            <a:pPr marL="0" indent="0">
              <a:buNone/>
            </a:pPr>
            <a:r>
              <a:rPr lang="en-GB" sz="3200" dirty="0"/>
              <a:t>              </a:t>
            </a:r>
            <a:r>
              <a:rPr lang="en-GB" sz="3200" dirty="0" err="1"/>
              <a:t>downtime_hours</a:t>
            </a:r>
            <a:r>
              <a:rPr lang="en-GB" sz="3200" dirty="0"/>
              <a:t>, </a:t>
            </a:r>
          </a:p>
          <a:p>
            <a:pPr marL="0" indent="0">
              <a:buNone/>
            </a:pPr>
            <a:r>
              <a:rPr lang="en-GB" sz="3200" dirty="0"/>
              <a:t>			</a:t>
            </a:r>
            <a:r>
              <a:rPr lang="en-GB" sz="3200" dirty="0" err="1"/>
              <a:t>maintenance_cost</a:t>
            </a:r>
            <a:r>
              <a:rPr lang="en-GB" sz="3200" dirty="0"/>
              <a:t>, </a:t>
            </a:r>
          </a:p>
          <a:p>
            <a:pPr marL="0" indent="0">
              <a:buNone/>
            </a:pPr>
            <a:r>
              <a:rPr lang="en-GB" sz="3200" dirty="0"/>
              <a:t>			repair hours, </a:t>
            </a:r>
          </a:p>
          <a:p>
            <a:pPr marL="0" indent="0">
              <a:buNone/>
            </a:pPr>
            <a:r>
              <a:rPr lang="en-GB" sz="3200" dirty="0"/>
              <a:t>			</a:t>
            </a:r>
            <a:r>
              <a:rPr lang="en-GB" sz="3200" dirty="0" err="1"/>
              <a:t>work_order_count</a:t>
            </a:r>
            <a:endParaRPr lang="en-GB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1858" y="411430"/>
            <a:ext cx="10131425" cy="810228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rgbClr val="FFFF00"/>
                </a:solidFill>
                <a:latin typeface="+mn-lt"/>
              </a:rPr>
              <a:t>Data Quality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4328" y="1418861"/>
            <a:ext cx="7772400" cy="1732702"/>
          </a:xfrm>
        </p:spPr>
        <p:txBody>
          <a:bodyPr>
            <a:noAutofit/>
          </a:bodyPr>
          <a:lstStyle/>
          <a:p>
            <a:r>
              <a:rPr sz="3200" dirty="0"/>
              <a:t>Checked missing &amp; zero values</a:t>
            </a:r>
          </a:p>
          <a:p>
            <a:r>
              <a:rPr sz="3200" dirty="0"/>
              <a:t>Validated abnormal spikes</a:t>
            </a:r>
          </a:p>
          <a:p>
            <a:r>
              <a:rPr sz="3200" dirty="0"/>
              <a:t>Confirmed data readiness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1D6AF4-1904-5915-5689-8E0AF5896154}"/>
              </a:ext>
            </a:extLst>
          </p:cNvPr>
          <p:cNvSpPr txBox="1">
            <a:spLocks/>
          </p:cNvSpPr>
          <p:nvPr/>
        </p:nvSpPr>
        <p:spPr>
          <a:xfrm>
            <a:off x="3875652" y="3142688"/>
            <a:ext cx="7772400" cy="33038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D" sz="3200" b="1" dirty="0"/>
              <a:t>Measure </a:t>
            </a:r>
            <a:r>
              <a:rPr lang="en-ID" sz="3200" b="1" dirty="0" err="1"/>
              <a:t>implisit</a:t>
            </a:r>
            <a:r>
              <a:rPr lang="en-ID" sz="3200" b="1" dirty="0"/>
              <a:t>:</a:t>
            </a:r>
            <a:endParaRPr lang="en-ID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3200" dirty="0"/>
              <a:t>Total Downtime (Hours)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3200" dirty="0"/>
              <a:t>Total Maintenance Cost</a:t>
            </a:r>
          </a:p>
          <a:p>
            <a:pPr marL="0" indent="0">
              <a:buNone/>
            </a:pPr>
            <a:r>
              <a:rPr lang="en-ID" sz="3200" dirty="0" err="1"/>
              <a:t>Digunakan</a:t>
            </a:r>
            <a:r>
              <a:rPr lang="en-ID" sz="3200" dirty="0"/>
              <a:t> </a:t>
            </a:r>
            <a:r>
              <a:rPr lang="en-ID" sz="3200" dirty="0" err="1"/>
              <a:t>untuk</a:t>
            </a:r>
            <a:r>
              <a:rPr lang="en-ID" sz="32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3200" dirty="0" err="1"/>
              <a:t>cek</a:t>
            </a:r>
            <a:r>
              <a:rPr lang="en-ID" sz="3200" dirty="0"/>
              <a:t> </a:t>
            </a:r>
            <a:r>
              <a:rPr lang="en-ID" sz="3200" dirty="0" err="1"/>
              <a:t>nilai</a:t>
            </a:r>
            <a:r>
              <a:rPr lang="en-ID" sz="3200" dirty="0"/>
              <a:t> </a:t>
            </a:r>
            <a:r>
              <a:rPr lang="en-ID" sz="3200" dirty="0" err="1"/>
              <a:t>nol</a:t>
            </a:r>
            <a:r>
              <a:rPr lang="en-ID" sz="3200" dirty="0"/>
              <a:t> / blank / outlier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950" y="239210"/>
            <a:ext cx="10131425" cy="559443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FFFF00"/>
                </a:solidFill>
                <a:latin typeface="+mn-lt"/>
              </a:rPr>
              <a:t>Distribution Analysis (Equipment)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4601" y="1013877"/>
            <a:ext cx="7772400" cy="1671571"/>
          </a:xfrm>
        </p:spPr>
        <p:txBody>
          <a:bodyPr>
            <a:noAutofit/>
          </a:bodyPr>
          <a:lstStyle/>
          <a:p>
            <a:r>
              <a:rPr sz="2800" dirty="0"/>
              <a:t>Downtime distribution not uniform</a:t>
            </a:r>
          </a:p>
          <a:p>
            <a:r>
              <a:rPr sz="2800" dirty="0"/>
              <a:t>Few equipment contribute majority of downtime</a:t>
            </a:r>
          </a:p>
          <a:p>
            <a:r>
              <a:rPr sz="2800" dirty="0"/>
              <a:t>Supports Top-N analysis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593C808-B8F0-BCE8-17ED-2EEA2D7B45E4}"/>
              </a:ext>
            </a:extLst>
          </p:cNvPr>
          <p:cNvSpPr txBox="1">
            <a:spLocks/>
          </p:cNvSpPr>
          <p:nvPr/>
        </p:nvSpPr>
        <p:spPr>
          <a:xfrm>
            <a:off x="3067975" y="2945996"/>
            <a:ext cx="7772400" cy="3573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D" sz="2800" b="1" dirty="0"/>
              <a:t>Measure WAJIB: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800" b="1" dirty="0"/>
              <a:t>Total Downtime (Hours)</a:t>
            </a:r>
            <a:endParaRPr lang="en-ID" sz="2800" dirty="0"/>
          </a:p>
          <a:p>
            <a:pPr marL="0" indent="0">
              <a:buNone/>
            </a:pPr>
            <a:r>
              <a:rPr lang="en-ID" sz="2800" dirty="0" err="1"/>
              <a:t>Digunakan</a:t>
            </a:r>
            <a:r>
              <a:rPr lang="en-ID" sz="2800" dirty="0"/>
              <a:t> </a:t>
            </a:r>
            <a:r>
              <a:rPr lang="en-ID" sz="2800" dirty="0" err="1"/>
              <a:t>untuk</a:t>
            </a:r>
            <a:r>
              <a:rPr lang="en-ID" sz="28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 err="1"/>
              <a:t>melihat</a:t>
            </a:r>
            <a:r>
              <a:rPr lang="en-ID" sz="2800" dirty="0"/>
              <a:t> </a:t>
            </a:r>
            <a:r>
              <a:rPr lang="en-ID" sz="2800" dirty="0" err="1"/>
              <a:t>distribusi</a:t>
            </a:r>
            <a:r>
              <a:rPr lang="en-ID" sz="2800" dirty="0"/>
              <a:t> downtime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 err="1"/>
              <a:t>dasar</a:t>
            </a:r>
            <a:r>
              <a:rPr lang="en-ID" sz="2800" dirty="0"/>
              <a:t> Top-N Equipment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b="1" dirty="0" err="1"/>
              <a:t>Ini</a:t>
            </a:r>
            <a:r>
              <a:rPr lang="en-ID" sz="2800" b="1" dirty="0"/>
              <a:t> </a:t>
            </a:r>
            <a:r>
              <a:rPr lang="en-ID" sz="2800" b="1" dirty="0" err="1"/>
              <a:t>fondasi</a:t>
            </a:r>
            <a:r>
              <a:rPr lang="en-ID" sz="2800" b="1" dirty="0"/>
              <a:t> chart “Top Equipment by Downtime”</a:t>
            </a:r>
            <a:endParaRPr lang="en-ID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0287" y="1"/>
            <a:ext cx="10131425" cy="914400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FFFF00"/>
                </a:solidFill>
                <a:latin typeface="+mn-lt"/>
              </a:rPr>
              <a:t>Location Analysis (Site)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4361" y="914401"/>
            <a:ext cx="7772400" cy="1456267"/>
          </a:xfrm>
        </p:spPr>
        <p:txBody>
          <a:bodyPr>
            <a:normAutofit/>
          </a:bodyPr>
          <a:lstStyle/>
          <a:p>
            <a:r>
              <a:rPr sz="2800" dirty="0"/>
              <a:t>Significant downtime variation by site</a:t>
            </a:r>
          </a:p>
          <a:p>
            <a:r>
              <a:rPr sz="2800" dirty="0"/>
              <a:t>Indicates different operational conditions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630C324-4F1A-18B3-0FD7-33AD54A65D3E}"/>
              </a:ext>
            </a:extLst>
          </p:cNvPr>
          <p:cNvSpPr txBox="1">
            <a:spLocks/>
          </p:cNvSpPr>
          <p:nvPr/>
        </p:nvSpPr>
        <p:spPr>
          <a:xfrm>
            <a:off x="3389311" y="2354982"/>
            <a:ext cx="7772400" cy="35133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D" sz="2800" b="1" dirty="0"/>
              <a:t>Measure WAJIB: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800" b="1" dirty="0"/>
              <a:t>Total Downtime (Hours)</a:t>
            </a:r>
            <a:endParaRPr lang="en-ID" sz="2800" dirty="0"/>
          </a:p>
          <a:p>
            <a:pPr marL="0" indent="0">
              <a:buNone/>
            </a:pPr>
            <a:r>
              <a:rPr lang="en-ID" sz="2800" dirty="0" err="1"/>
              <a:t>Digunakan</a:t>
            </a:r>
            <a:r>
              <a:rPr lang="en-ID" sz="2800" dirty="0"/>
              <a:t> </a:t>
            </a:r>
            <a:r>
              <a:rPr lang="en-ID" sz="2800" dirty="0" err="1"/>
              <a:t>untuk</a:t>
            </a:r>
            <a:r>
              <a:rPr lang="en-ID" sz="28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 err="1"/>
              <a:t>perbandingan</a:t>
            </a:r>
            <a:r>
              <a:rPr lang="en-ID" sz="2800" dirty="0"/>
              <a:t> site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 err="1"/>
              <a:t>prioritas</a:t>
            </a:r>
            <a:r>
              <a:rPr lang="en-ID" sz="2800" dirty="0"/>
              <a:t> Lokasi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/>
              <a:t>Dasar chart </a:t>
            </a:r>
            <a:r>
              <a:rPr lang="en-ID" sz="2800" b="1" dirty="0"/>
              <a:t>Downtime by Site</a:t>
            </a:r>
            <a:endParaRPr lang="en-ID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569" y="64798"/>
            <a:ext cx="10131425" cy="767787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FFFF00"/>
                </a:solidFill>
                <a:latin typeface="+mn-lt"/>
              </a:rPr>
              <a:t>Time Series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5877" y="855471"/>
            <a:ext cx="4606508" cy="2169644"/>
          </a:xfrm>
        </p:spPr>
        <p:txBody>
          <a:bodyPr>
            <a:noAutofit/>
          </a:bodyPr>
          <a:lstStyle/>
          <a:p>
            <a:r>
              <a:rPr sz="2800" dirty="0"/>
              <a:t>Monthly downtime trends fluctuate</a:t>
            </a:r>
          </a:p>
          <a:p>
            <a:r>
              <a:rPr sz="2800" dirty="0"/>
              <a:t>Identified spike periods</a:t>
            </a:r>
          </a:p>
          <a:p>
            <a:r>
              <a:rPr sz="2800" dirty="0"/>
              <a:t>Requires trend monitoring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A009062-3C7F-C08E-29D2-1095929A5407}"/>
              </a:ext>
            </a:extLst>
          </p:cNvPr>
          <p:cNvSpPr txBox="1">
            <a:spLocks/>
          </p:cNvSpPr>
          <p:nvPr/>
        </p:nvSpPr>
        <p:spPr>
          <a:xfrm>
            <a:off x="7403867" y="663615"/>
            <a:ext cx="3872564" cy="60254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D" sz="2800" b="1" dirty="0"/>
              <a:t>Measure WAJIB: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800" b="1" dirty="0"/>
              <a:t>Total Downtime (Hours)</a:t>
            </a:r>
            <a:endParaRPr lang="en-ID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2800" b="1" dirty="0"/>
              <a:t>Downtime MoM %</a:t>
            </a:r>
            <a:endParaRPr lang="en-ID" sz="2800" dirty="0"/>
          </a:p>
          <a:p>
            <a:pPr marL="0" indent="0">
              <a:buNone/>
            </a:pPr>
            <a:r>
              <a:rPr lang="en-ID" sz="2800" dirty="0" err="1"/>
              <a:t>Digunakan</a:t>
            </a:r>
            <a:r>
              <a:rPr lang="en-ID" sz="2800" dirty="0"/>
              <a:t> </a:t>
            </a:r>
            <a:r>
              <a:rPr lang="en-ID" sz="2800" dirty="0" err="1"/>
              <a:t>untuk</a:t>
            </a:r>
            <a:r>
              <a:rPr lang="en-ID" sz="28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 err="1"/>
              <a:t>tren</a:t>
            </a:r>
            <a:r>
              <a:rPr lang="en-ID" sz="2800" dirty="0"/>
              <a:t> </a:t>
            </a:r>
            <a:r>
              <a:rPr lang="en-ID" sz="2800" dirty="0" err="1"/>
              <a:t>waktu</a:t>
            </a:r>
            <a:endParaRPr lang="en-ID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 err="1"/>
              <a:t>arah</a:t>
            </a:r>
            <a:r>
              <a:rPr lang="en-ID" sz="2800" dirty="0"/>
              <a:t> </a:t>
            </a:r>
            <a:r>
              <a:rPr lang="en-ID" sz="2800" dirty="0" err="1"/>
              <a:t>performa</a:t>
            </a:r>
            <a:endParaRPr lang="en-ID" sz="2800" dirty="0"/>
          </a:p>
          <a:p>
            <a:pPr marL="0" indent="0">
              <a:buNone/>
            </a:pPr>
            <a:r>
              <a:rPr lang="en-ID" sz="2800" dirty="0"/>
              <a:t>Dasar: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/>
              <a:t>Downtime Trend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/>
              <a:t>Downtime MoM KPI (Executive)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8B64233-C841-7B46-0613-2EBC0A91AEED}"/>
              </a:ext>
            </a:extLst>
          </p:cNvPr>
          <p:cNvSpPr/>
          <p:nvPr/>
        </p:nvSpPr>
        <p:spPr>
          <a:xfrm>
            <a:off x="5749787" y="1644042"/>
            <a:ext cx="1377388" cy="592502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576" y="216061"/>
            <a:ext cx="6413982" cy="790937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FFFF00"/>
                </a:solidFill>
                <a:latin typeface="+mn-lt"/>
              </a:rPr>
              <a:t>Cost vs Downtime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507" y="1567618"/>
            <a:ext cx="6003504" cy="1456268"/>
          </a:xfrm>
        </p:spPr>
        <p:txBody>
          <a:bodyPr>
            <a:noAutofit/>
          </a:bodyPr>
          <a:lstStyle/>
          <a:p>
            <a:r>
              <a:rPr sz="2800" dirty="0"/>
              <a:t>Cost not always linear with downtime</a:t>
            </a:r>
          </a:p>
          <a:p>
            <a:r>
              <a:rPr sz="2800" dirty="0"/>
              <a:t>Identified inefficiency cases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89457D-DCED-52DE-549B-FDD093177DE8}"/>
              </a:ext>
            </a:extLst>
          </p:cNvPr>
          <p:cNvSpPr txBox="1">
            <a:spLocks/>
          </p:cNvSpPr>
          <p:nvPr/>
        </p:nvSpPr>
        <p:spPr>
          <a:xfrm>
            <a:off x="7899904" y="530506"/>
            <a:ext cx="4032986" cy="62618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D" sz="2800" b="1" dirty="0"/>
              <a:t>Measure WAJIB: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800" b="1" dirty="0"/>
              <a:t>Total Maintenance Cost</a:t>
            </a:r>
            <a:endParaRPr lang="en-ID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2800" b="1" dirty="0"/>
              <a:t>Total Downtime (Hours)</a:t>
            </a:r>
            <a:endParaRPr lang="en-ID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2800" b="1" dirty="0"/>
              <a:t>Cost per Downtime Hour</a:t>
            </a:r>
            <a:endParaRPr lang="en-ID" sz="2800" dirty="0"/>
          </a:p>
          <a:p>
            <a:pPr marL="0" indent="0">
              <a:buNone/>
            </a:pPr>
            <a:r>
              <a:rPr lang="en-ID" sz="2800" dirty="0" err="1"/>
              <a:t>Digunakan</a:t>
            </a:r>
            <a:r>
              <a:rPr lang="en-ID" sz="2800" dirty="0"/>
              <a:t> </a:t>
            </a:r>
            <a:r>
              <a:rPr lang="en-ID" sz="2800" dirty="0" err="1"/>
              <a:t>untuk</a:t>
            </a:r>
            <a:r>
              <a:rPr lang="en-ID" sz="28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 err="1"/>
              <a:t>melihat</a:t>
            </a:r>
            <a:r>
              <a:rPr lang="en-ID" sz="2800" dirty="0"/>
              <a:t> </a:t>
            </a:r>
            <a:r>
              <a:rPr lang="en-ID" sz="2800" dirty="0" err="1"/>
              <a:t>efisiensi</a:t>
            </a:r>
            <a:r>
              <a:rPr lang="en-ID" sz="2800" dirty="0"/>
              <a:t> </a:t>
            </a:r>
            <a:r>
              <a:rPr lang="en-ID" sz="2800" dirty="0" err="1"/>
              <a:t>biaya</a:t>
            </a:r>
            <a:endParaRPr lang="en-ID" sz="2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 err="1"/>
              <a:t>mendeteksi</a:t>
            </a:r>
            <a:r>
              <a:rPr lang="en-ID" sz="2800" dirty="0"/>
              <a:t> red flag</a:t>
            </a:r>
          </a:p>
          <a:p>
            <a:pPr marL="0" indent="0">
              <a:buNone/>
            </a:pPr>
            <a:r>
              <a:rPr lang="en-ID" sz="2800" dirty="0"/>
              <a:t>Dasar: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/>
              <a:t>Cost vs Downtime Trend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/>
              <a:t>Cost per Downtime Hour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2CC022C-FEBA-EBD8-D567-D77A617841DF}"/>
              </a:ext>
            </a:extLst>
          </p:cNvPr>
          <p:cNvSpPr/>
          <p:nvPr/>
        </p:nvSpPr>
        <p:spPr>
          <a:xfrm>
            <a:off x="6449210" y="1999501"/>
            <a:ext cx="1377388" cy="592502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181" y="405216"/>
            <a:ext cx="7277581" cy="613458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FFFF00"/>
                </a:solidFill>
                <a:latin typeface="+mn-lt"/>
              </a:rPr>
              <a:t>Failure &amp; Root Cause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181" y="1861382"/>
            <a:ext cx="5533530" cy="1380777"/>
          </a:xfrm>
        </p:spPr>
        <p:txBody>
          <a:bodyPr>
            <a:noAutofit/>
          </a:bodyPr>
          <a:lstStyle/>
          <a:p>
            <a:r>
              <a:rPr sz="2800" dirty="0"/>
              <a:t>Failure groups show Pareto pattern</a:t>
            </a:r>
          </a:p>
          <a:p>
            <a:r>
              <a:rPr sz="2800" dirty="0"/>
              <a:t>Few causes dominate downtime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C287E5-FE85-087D-C120-599BF151969F}"/>
              </a:ext>
            </a:extLst>
          </p:cNvPr>
          <p:cNvSpPr txBox="1">
            <a:spLocks/>
          </p:cNvSpPr>
          <p:nvPr/>
        </p:nvSpPr>
        <p:spPr>
          <a:xfrm>
            <a:off x="7595812" y="1076649"/>
            <a:ext cx="4349015" cy="55268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D" sz="2800" b="1" dirty="0"/>
              <a:t>Measure WAJIB: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800" b="1" dirty="0"/>
              <a:t>Total Downtime (Hours)</a:t>
            </a:r>
            <a:endParaRPr lang="en-ID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2800" b="1" dirty="0"/>
              <a:t>Downtime Contribution %</a:t>
            </a:r>
            <a:endParaRPr lang="en-ID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2800" b="1" dirty="0"/>
              <a:t>Total Maintenance Cost</a:t>
            </a:r>
            <a:endParaRPr lang="en-ID" sz="2800" dirty="0"/>
          </a:p>
          <a:p>
            <a:pPr marL="0" indent="0">
              <a:buNone/>
            </a:pPr>
            <a:r>
              <a:rPr lang="en-ID" sz="2800" dirty="0" err="1"/>
              <a:t>Digunakan</a:t>
            </a:r>
            <a:r>
              <a:rPr lang="en-ID" sz="2800" dirty="0"/>
              <a:t> </a:t>
            </a:r>
            <a:r>
              <a:rPr lang="en-ID" sz="2800" dirty="0" err="1"/>
              <a:t>untuk</a:t>
            </a:r>
            <a:r>
              <a:rPr lang="en-ID" sz="28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/>
              <a:t>Pareto (80/20)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 err="1"/>
              <a:t>prioritas</a:t>
            </a:r>
            <a:r>
              <a:rPr lang="en-ID" sz="2800" dirty="0"/>
              <a:t> failure</a:t>
            </a:r>
          </a:p>
          <a:p>
            <a:pPr marL="0" indent="0">
              <a:buNone/>
            </a:pPr>
            <a:r>
              <a:rPr lang="en-ID" sz="2800" dirty="0"/>
              <a:t>Dasar: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/>
              <a:t>Failure Pareto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/>
              <a:t>Top Failure by Cost (RCA)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E62D7D9-DB60-C00E-11CD-A9483A37E53C}"/>
              </a:ext>
            </a:extLst>
          </p:cNvPr>
          <p:cNvSpPr/>
          <p:nvPr/>
        </p:nvSpPr>
        <p:spPr>
          <a:xfrm>
            <a:off x="6096000" y="2427764"/>
            <a:ext cx="1377388" cy="592502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308" y="135039"/>
            <a:ext cx="5078392" cy="814086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FFFF00"/>
                </a:solidFill>
                <a:latin typeface="+mn-lt"/>
              </a:rPr>
              <a:t>Reliability &amp; Efficiency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308" y="1122602"/>
            <a:ext cx="5078392" cy="251164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sz="2800" dirty="0"/>
              <a:t>MTBF, 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   </a:t>
            </a:r>
            <a:r>
              <a:rPr sz="2800" dirty="0"/>
              <a:t>Repair Hours, </a:t>
            </a:r>
            <a:br>
              <a:rPr lang="en-US" sz="2800" dirty="0"/>
            </a:br>
            <a:r>
              <a:rPr lang="en-US" sz="2800" dirty="0"/>
              <a:t>   </a:t>
            </a:r>
            <a:r>
              <a:rPr sz="2800" dirty="0"/>
              <a:t>Cost per Work Order analyzed</a:t>
            </a:r>
          </a:p>
          <a:p>
            <a:pPr>
              <a:lnSpc>
                <a:spcPct val="150000"/>
              </a:lnSpc>
            </a:pPr>
            <a:r>
              <a:rPr sz="2800" dirty="0"/>
              <a:t>Identified low reliability assets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EF2168-FED5-C0F3-3879-B0847483BBC7}"/>
              </a:ext>
            </a:extLst>
          </p:cNvPr>
          <p:cNvSpPr txBox="1">
            <a:spLocks/>
          </p:cNvSpPr>
          <p:nvPr/>
        </p:nvSpPr>
        <p:spPr>
          <a:xfrm>
            <a:off x="7141580" y="642398"/>
            <a:ext cx="4945892" cy="5983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D" sz="2800" b="1" dirty="0"/>
              <a:t>Measure WAJIB: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2800" b="1" dirty="0"/>
              <a:t>MTBF</a:t>
            </a:r>
            <a:endParaRPr lang="en-ID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2800" b="1" dirty="0"/>
              <a:t>Total Repair Hours</a:t>
            </a:r>
            <a:endParaRPr lang="en-ID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2800" b="1" dirty="0"/>
              <a:t>Total Work Orders</a:t>
            </a:r>
            <a:endParaRPr lang="en-ID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2800" b="1" dirty="0"/>
              <a:t>Cost per Work Order</a:t>
            </a:r>
            <a:endParaRPr lang="en-ID" sz="2800" dirty="0"/>
          </a:p>
          <a:p>
            <a:pPr marL="0" indent="0">
              <a:buNone/>
            </a:pPr>
            <a:r>
              <a:rPr lang="en-ID" sz="2800" dirty="0" err="1"/>
              <a:t>Digunakan</a:t>
            </a:r>
            <a:r>
              <a:rPr lang="en-ID" sz="2800" dirty="0"/>
              <a:t> </a:t>
            </a:r>
            <a:r>
              <a:rPr lang="en-ID" sz="2800" dirty="0" err="1"/>
              <a:t>untuk</a:t>
            </a:r>
            <a:r>
              <a:rPr lang="en-ID" sz="2800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 err="1"/>
              <a:t>bedakan</a:t>
            </a:r>
            <a:r>
              <a:rPr lang="en-ID" sz="2800" dirty="0"/>
              <a:t> impact vs effort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/>
              <a:t>workload analysis</a:t>
            </a:r>
          </a:p>
          <a:p>
            <a:pPr marL="0" indent="0">
              <a:buNone/>
            </a:pPr>
            <a:r>
              <a:rPr lang="en-ID" sz="2800" dirty="0"/>
              <a:t>Dasar: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/>
              <a:t>Maintenance &amp; Operations KPI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D" sz="2800" dirty="0"/>
              <a:t>Workload &amp; Efficiency Table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533C3D4-251B-99DF-8DDA-059ED0920FFD}"/>
              </a:ext>
            </a:extLst>
          </p:cNvPr>
          <p:cNvSpPr/>
          <p:nvPr/>
        </p:nvSpPr>
        <p:spPr>
          <a:xfrm>
            <a:off x="5407306" y="1872179"/>
            <a:ext cx="1377388" cy="592502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980018" cy="1456267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FFFF00"/>
                </a:solidFill>
                <a:latin typeface="+mn-lt"/>
              </a:rPr>
              <a:t>EDA to Dashboard Mapping</a:t>
            </a:r>
            <a:r>
              <a:rPr lang="en-US" sz="2800" b="1" dirty="0">
                <a:solidFill>
                  <a:srgbClr val="FFFF00"/>
                </a:solidFill>
                <a:latin typeface="+mn-lt"/>
              </a:rPr>
              <a:t> </a:t>
            </a:r>
            <a:br>
              <a:rPr lang="en-US" sz="2800" b="1" dirty="0">
                <a:solidFill>
                  <a:srgbClr val="FFFF00"/>
                </a:solidFill>
                <a:latin typeface="+mn-lt"/>
              </a:rPr>
            </a:br>
            <a:r>
              <a:rPr lang="en-US" sz="2800" b="1" dirty="0">
                <a:solidFill>
                  <a:srgbClr val="FFFF00"/>
                </a:solidFill>
                <a:latin typeface="+mn-lt"/>
              </a:rPr>
              <a:t>(</a:t>
            </a:r>
            <a:r>
              <a:rPr lang="sv-SE" sz="2800" b="1" dirty="0">
                <a:solidFill>
                  <a:srgbClr val="FFFF00"/>
                </a:solidFill>
                <a:latin typeface="+mn-lt"/>
              </a:rPr>
              <a:t>PENJELASAN YANG LEBIH DETAIL, MENDALAM, DAN TERSTRUKTUR) </a:t>
            </a:r>
            <a:endParaRPr sz="2800" b="1" dirty="0">
              <a:solidFill>
                <a:srgbClr val="FFFF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466172"/>
            <a:ext cx="6249740" cy="1730629"/>
          </a:xfrm>
        </p:spPr>
        <p:txBody>
          <a:bodyPr>
            <a:noAutofit/>
          </a:bodyPr>
          <a:lstStyle/>
          <a:p>
            <a:r>
              <a:rPr sz="2800" dirty="0"/>
              <a:t>Top Equipment → Impact Analysis</a:t>
            </a:r>
          </a:p>
          <a:p>
            <a:r>
              <a:rPr sz="2800" dirty="0"/>
              <a:t>Downtime by Site → Location focus</a:t>
            </a:r>
          </a:p>
          <a:p>
            <a:r>
              <a:rPr sz="2800" dirty="0"/>
              <a:t>RCA → Root cause prioritization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2B70A52-5A41-4959-7963-E396D2387C1E}"/>
              </a:ext>
            </a:extLst>
          </p:cNvPr>
          <p:cNvSpPr txBox="1">
            <a:spLocks/>
          </p:cNvSpPr>
          <p:nvPr/>
        </p:nvSpPr>
        <p:spPr>
          <a:xfrm>
            <a:off x="7833320" y="2466172"/>
            <a:ext cx="3394124" cy="1981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/>
              <a:t>Downtime metrics</a:t>
            </a:r>
          </a:p>
          <a:p>
            <a:pPr marL="0" indent="0">
              <a:buNone/>
            </a:pPr>
            <a:r>
              <a:rPr lang="en-GB" sz="2800" dirty="0"/>
              <a:t>Cost metrics</a:t>
            </a:r>
          </a:p>
          <a:p>
            <a:pPr marL="0" indent="0">
              <a:buNone/>
            </a:pPr>
            <a:r>
              <a:rPr lang="en-GB" sz="2800" dirty="0"/>
              <a:t>Reliability metrics</a:t>
            </a:r>
          </a:p>
          <a:p>
            <a:pPr marL="0" indent="0">
              <a:buNone/>
            </a:pPr>
            <a:r>
              <a:rPr lang="en-GB" sz="2800" dirty="0"/>
              <a:t>Workload metrics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0287" y="584200"/>
            <a:ext cx="10131425" cy="1456267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rgbClr val="FFFF00"/>
                </a:solidFill>
                <a:latin typeface="+mn-lt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8200" y="2040467"/>
            <a:ext cx="7772400" cy="2299124"/>
          </a:xfrm>
        </p:spPr>
        <p:txBody>
          <a:bodyPr>
            <a:noAutofit/>
          </a:bodyPr>
          <a:lstStyle/>
          <a:p>
            <a:r>
              <a:rPr sz="3200" dirty="0"/>
              <a:t>EDA drives dashboard design</a:t>
            </a:r>
          </a:p>
          <a:p>
            <a:r>
              <a:rPr sz="3200" dirty="0"/>
              <a:t>Ensures insights are actionable</a:t>
            </a:r>
          </a:p>
          <a:p>
            <a:r>
              <a:rPr sz="3200" dirty="0"/>
              <a:t>Supports data-driven decisions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455" y="2023428"/>
            <a:ext cx="4149090" cy="1143000"/>
          </a:xfrm>
        </p:spPr>
        <p:txBody>
          <a:bodyPr>
            <a:normAutofit/>
          </a:bodyPr>
          <a:lstStyle/>
          <a:p>
            <a:pPr algn="ctr"/>
            <a:r>
              <a:rPr sz="4800" b="1" dirty="0">
                <a:solidFill>
                  <a:srgbClr val="FFFF0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233</TotalTime>
  <Words>1574</Words>
  <Application>Microsoft Office PowerPoint</Application>
  <PresentationFormat>Widescreen</PresentationFormat>
  <Paragraphs>233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Celestial</vt:lpstr>
      <vt:lpstr>Exploratory Data Analysis (EDA) Maintenance Performance Analytics</vt:lpstr>
      <vt:lpstr>Objective of EDA</vt:lpstr>
      <vt:lpstr>Data Overview &amp; Grain</vt:lpstr>
      <vt:lpstr>Data Quality Check</vt:lpstr>
      <vt:lpstr>Distribution Analysis (Equipment)</vt:lpstr>
      <vt:lpstr>Location Analysis (Site)</vt:lpstr>
      <vt:lpstr>Time Series Analysis</vt:lpstr>
      <vt:lpstr>Cost vs Downtime Analysis</vt:lpstr>
      <vt:lpstr>Failure &amp; Root Cause Exploration</vt:lpstr>
      <vt:lpstr>Reliability &amp; Efficiency Check</vt:lpstr>
      <vt:lpstr>EDA to Dashboard Mapping  (PENJELASAN YANG LEBIH DETAIL, MENDALAM, DAN TERSTRUKTUR)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andono</dc:creator>
  <cp:lastModifiedBy>ahmad andono</cp:lastModifiedBy>
  <cp:revision>67</cp:revision>
  <dcterms:created xsi:type="dcterms:W3CDTF">2025-12-29T11:40:24Z</dcterms:created>
  <dcterms:modified xsi:type="dcterms:W3CDTF">2025-12-30T01:39:10Z</dcterms:modified>
</cp:coreProperties>
</file>