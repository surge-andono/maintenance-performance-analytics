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Authors.xml" ContentType="application/vnd.openxmlformats-officedocument.presentationml.commentAuthors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notesSlides/notesSlide11.xml" ContentType="application/vnd.openxmlformats-officedocument.presentationml.notes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72" r:id="rId3"/>
    <p:sldId id="257" r:id="rId4"/>
    <p:sldId id="275" r:id="rId5"/>
    <p:sldId id="258" r:id="rId6"/>
    <p:sldId id="259" r:id="rId7"/>
    <p:sldId id="276" r:id="rId8"/>
    <p:sldId id="263" r:id="rId9"/>
    <p:sldId id="264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ad andono" initials="aa" lastIdx="3" clrIdx="0">
    <p:extLst>
      <p:ext uri="{19B8F6BF-5375-455C-9EA6-DF929625EA0E}">
        <p15:presenceInfo xmlns:p15="http://schemas.microsoft.com/office/powerpoint/2012/main" userId="377585e2b004fc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27075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slide" Target="/ppt/slides/slide2.xml" Id="rId3" /><Relationship Type="http://schemas.openxmlformats.org/officeDocument/2006/relationships/commentAuthors" Target="/ppt/commentAuthors.xml" Id="rId21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tableStyles" Target="/ppt/tableStyles.xml" Id="rId25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notesMaster" Target="/ppt/notesMasters/notesMaster1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theme" Target="/ppt/theme/theme1.xml" Id="rId24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viewProps" Target="/ppt/viewProps.xml" Id="rId23" /><Relationship Type="http://schemas.openxmlformats.org/officeDocument/2006/relationships/slide" Target="/ppt/slides/slide9.xml" Id="rId10" /><Relationship Type="http://schemas.openxmlformats.org/officeDocument/2006/relationships/slide" Target="/ppt/slides/slide18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presProps" Target="/ppt/presProps.xml" Id="rI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48580-8A9A-44F1-B8DE-54BEED56FC85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02B62-6680-4AF6-9401-63DC1718E8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213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11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12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3.xml" Id="rId2" /><Relationship Type="http://schemas.openxmlformats.org/officeDocument/2006/relationships/notesMaster" Target="/ppt/notesMasters/notesMaster1.xml" Id="rI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4.xml" Id="rId2" /><Relationship Type="http://schemas.openxmlformats.org/officeDocument/2006/relationships/notesMaster" Target="/ppt/notesMasters/notesMaster1.xml" Id="rI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5.xml" Id="rId2" /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6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1" dirty="0"/>
              <a:t>Tujuan Slide Ini :</a:t>
            </a:r>
          </a:p>
          <a:p>
            <a:endParaRPr lang="sv-SE" b="1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sv-SE" dirty="0"/>
              <a:t>Menjelaskan </a:t>
            </a:r>
            <a:r>
              <a:rPr lang="sv-SE" b="1" dirty="0"/>
              <a:t>mengapa dashboard dibangun seperti itu</a:t>
            </a:r>
            <a:r>
              <a:rPr lang="sv-SE" dirty="0"/>
              <a:t>, bukan sekadar </a:t>
            </a:r>
            <a:r>
              <a:rPr lang="sv-SE" b="1" dirty="0"/>
              <a:t>apa yang ditampilkan</a:t>
            </a:r>
            <a:r>
              <a:rPr lang="sv-SE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sv-SE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Setiap</a:t>
            </a:r>
            <a:r>
              <a:rPr lang="en-ID" dirty="0"/>
              <a:t> KPI &amp; chart </a:t>
            </a:r>
            <a:r>
              <a:rPr lang="en-ID" b="1" dirty="0"/>
              <a:t>punya </a:t>
            </a:r>
            <a:r>
              <a:rPr lang="en-ID" b="1" dirty="0" err="1"/>
              <a:t>dasar</a:t>
            </a:r>
            <a:r>
              <a:rPr lang="en-ID" b="1" dirty="0"/>
              <a:t> EDA yang </a:t>
            </a:r>
            <a:r>
              <a:rPr lang="en-ID" b="1" dirty="0" err="1"/>
              <a:t>jelas</a:t>
            </a:r>
            <a:endParaRPr lang="en-ID" b="1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D" b="1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/>
              <a:t>Ada </a:t>
            </a:r>
            <a:r>
              <a:rPr lang="en-ID" b="1" dirty="0" err="1"/>
              <a:t>alur</a:t>
            </a:r>
            <a:r>
              <a:rPr lang="en-ID" b="1" dirty="0"/>
              <a:t> </a:t>
            </a:r>
            <a:r>
              <a:rPr lang="en-ID" b="1" dirty="0" err="1"/>
              <a:t>logis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data </a:t>
            </a:r>
            <a:r>
              <a:rPr lang="en-ID" b="1" dirty="0" err="1"/>
              <a:t>ke</a:t>
            </a:r>
            <a:r>
              <a:rPr lang="en-ID" b="1" dirty="0"/>
              <a:t> </a:t>
            </a:r>
            <a:r>
              <a:rPr lang="en-ID" b="1" dirty="0" err="1"/>
              <a:t>keputusan</a:t>
            </a:r>
            <a:endParaRPr lang="en-ID" dirty="0"/>
          </a:p>
          <a:p>
            <a:endParaRPr lang="sv-SE" dirty="0"/>
          </a:p>
          <a:p>
            <a:r>
              <a:rPr lang="en-ID" dirty="0"/>
              <a:t>EDA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b="1" dirty="0"/>
              <a:t>3 </a:t>
            </a:r>
            <a:r>
              <a:rPr lang="en-ID" b="1" dirty="0" err="1"/>
              <a:t>jenis</a:t>
            </a:r>
            <a:r>
              <a:rPr lang="en-ID" b="1" dirty="0"/>
              <a:t> insight </a:t>
            </a:r>
            <a:r>
              <a:rPr lang="en-ID" b="1" dirty="0" err="1"/>
              <a:t>utama</a:t>
            </a:r>
            <a:r>
              <a:rPr lang="en-ID" dirty="0"/>
              <a:t>, dan </a:t>
            </a:r>
            <a:r>
              <a:rPr lang="en-ID" b="1" dirty="0"/>
              <a:t>masing-masing insight </a:t>
            </a:r>
            <a:r>
              <a:rPr lang="en-ID" b="1" dirty="0" err="1"/>
              <a:t>diarahkan</a:t>
            </a:r>
            <a:r>
              <a:rPr lang="en-ID" b="1" dirty="0"/>
              <a:t> </a:t>
            </a:r>
            <a:r>
              <a:rPr lang="en-ID" b="1" dirty="0" err="1"/>
              <a:t>ke</a:t>
            </a:r>
            <a:r>
              <a:rPr lang="en-ID" b="1" dirty="0"/>
              <a:t> dashboard yang </a:t>
            </a:r>
            <a:r>
              <a:rPr lang="en-ID" b="1" dirty="0" err="1"/>
              <a:t>berbeda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level </a:t>
            </a:r>
            <a:r>
              <a:rPr lang="en-ID" dirty="0" err="1"/>
              <a:t>keputusan</a:t>
            </a:r>
            <a:r>
              <a:rPr lang="en-ID" dirty="0"/>
              <a:t>.</a:t>
            </a:r>
            <a:endParaRPr lang="sv-SE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8081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 err="1"/>
              <a:t>Penjelasan</a:t>
            </a:r>
            <a:r>
              <a:rPr lang="en-ID" b="1" dirty="0"/>
              <a:t> Diagram :</a:t>
            </a:r>
          </a:p>
          <a:p>
            <a:pPr marL="228600" indent="-228600">
              <a:buAutoNum type="arabicPeriod"/>
            </a:pPr>
            <a:endParaRPr lang="en-ID" b="0" dirty="0"/>
          </a:p>
          <a:p>
            <a:pPr marL="228600" indent="-228600">
              <a:buAutoNum type="arabicPeriod"/>
            </a:pPr>
            <a:r>
              <a:rPr lang="en-ID" b="1" dirty="0">
                <a:solidFill>
                  <a:srgbClr val="FFFF00"/>
                </a:solidFill>
              </a:rPr>
              <a:t>RAW DATA (INPUT) </a:t>
            </a:r>
            <a:r>
              <a:rPr lang="en-ID" b="0" dirty="0"/>
              <a:t>: Maintenance events, Equipment master, Site / location, Failure classification</a:t>
            </a:r>
          </a:p>
          <a:p>
            <a:pPr marL="228600" indent="-228600">
              <a:buAutoNum type="arabicPeriod"/>
            </a:pPr>
            <a:endParaRPr lang="en-ID" b="0" dirty="0"/>
          </a:p>
          <a:p>
            <a:pPr marL="228600" indent="-228600">
              <a:buFont typeface="+mj-lt"/>
              <a:buAutoNum type="arabicPeriod"/>
            </a:pPr>
            <a:r>
              <a:rPr lang="en-GB" b="1" dirty="0"/>
              <a:t>EXPLORATORY DATA ANALYSIS (EDA) </a:t>
            </a:r>
            <a:r>
              <a:rPr lang="en-GB" b="0" dirty="0"/>
              <a:t>-&gt; </a:t>
            </a:r>
            <a:r>
              <a:rPr lang="en-ID" b="0" dirty="0"/>
              <a:t>EDA </a:t>
            </a:r>
            <a:r>
              <a:rPr lang="en-ID" b="0" dirty="0" err="1"/>
              <a:t>berperan</a:t>
            </a:r>
            <a:r>
              <a:rPr lang="en-ID" b="0" dirty="0"/>
              <a:t> </a:t>
            </a:r>
            <a:r>
              <a:rPr lang="en-ID" b="0" dirty="0" err="1"/>
              <a:t>sebagai</a:t>
            </a:r>
            <a:r>
              <a:rPr lang="en-ID" b="0" dirty="0"/>
              <a:t> filter </a:t>
            </a:r>
            <a:r>
              <a:rPr lang="en-ID" b="0" dirty="0" err="1"/>
              <a:t>intelektual</a:t>
            </a:r>
            <a:r>
              <a:rPr lang="en-ID" b="0" dirty="0"/>
              <a:t>, yang: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 err="1"/>
              <a:t>Membersihkan</a:t>
            </a:r>
            <a:r>
              <a:rPr lang="en-ID" b="0" dirty="0"/>
              <a:t> </a:t>
            </a:r>
            <a:r>
              <a:rPr lang="en-ID" b="0" dirty="0" err="1"/>
              <a:t>kebisingan</a:t>
            </a:r>
            <a:r>
              <a:rPr lang="en-ID" b="0" dirty="0"/>
              <a:t>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 err="1"/>
              <a:t>Menemukan</a:t>
            </a:r>
            <a:r>
              <a:rPr lang="en-ID" b="0" dirty="0"/>
              <a:t> </a:t>
            </a:r>
            <a:r>
              <a:rPr lang="en-ID" b="0" dirty="0" err="1"/>
              <a:t>pola</a:t>
            </a:r>
            <a:r>
              <a:rPr lang="en-ID" b="0" dirty="0"/>
              <a:t> </a:t>
            </a:r>
            <a:r>
              <a:rPr lang="en-ID" b="0" dirty="0" err="1"/>
              <a:t>nyata</a:t>
            </a:r>
            <a:endParaRPr lang="en-ID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 err="1"/>
              <a:t>Menentukan</a:t>
            </a:r>
            <a:r>
              <a:rPr lang="en-ID" b="0" dirty="0"/>
              <a:t> </a:t>
            </a:r>
            <a:r>
              <a:rPr lang="en-ID" b="0" dirty="0" err="1"/>
              <a:t>metrik</a:t>
            </a:r>
            <a:r>
              <a:rPr lang="en-ID" b="0" dirty="0"/>
              <a:t> yang </a:t>
            </a:r>
            <a:r>
              <a:rPr lang="en-ID" b="0" dirty="0" err="1"/>
              <a:t>relevan</a:t>
            </a:r>
            <a:endParaRPr lang="en-ID" b="0" dirty="0"/>
          </a:p>
          <a:p>
            <a:pPr lvl="1"/>
            <a:endParaRPr lang="en-ID" b="0" dirty="0"/>
          </a:p>
          <a:p>
            <a:pPr lvl="1"/>
            <a:r>
              <a:rPr lang="en-ID" b="0" dirty="0"/>
              <a:t>Pada </a:t>
            </a:r>
            <a:r>
              <a:rPr lang="en-ID" b="0" dirty="0" err="1"/>
              <a:t>tahap</a:t>
            </a:r>
            <a:r>
              <a:rPr lang="en-ID" b="0" dirty="0"/>
              <a:t> </a:t>
            </a:r>
            <a:r>
              <a:rPr lang="en-ID" b="0" dirty="0" err="1"/>
              <a:t>ini</a:t>
            </a:r>
            <a:r>
              <a:rPr lang="en-ID" b="0" dirty="0"/>
              <a:t> </a:t>
            </a:r>
            <a:r>
              <a:rPr lang="en-ID" b="0" dirty="0" err="1"/>
              <a:t>dilakukan</a:t>
            </a:r>
            <a:r>
              <a:rPr lang="en-ID" b="0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/>
              <a:t>Data quality check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/>
              <a:t>Distribution analysis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/>
              <a:t>Time series analysis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/>
              <a:t>Cost vs impact analysis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D" b="0" dirty="0"/>
              <a:t>Failure &amp; reliability analysis</a:t>
            </a:r>
          </a:p>
          <a:p>
            <a:pPr lvl="1"/>
            <a:endParaRPr lang="en-ID" b="0" dirty="0"/>
          </a:p>
          <a:p>
            <a:pPr lvl="1"/>
            <a:r>
              <a:rPr lang="en-ID" b="0" dirty="0" err="1"/>
              <a:t>Prinsipnya</a:t>
            </a:r>
            <a:r>
              <a:rPr lang="en-ID" b="0" dirty="0"/>
              <a:t>, EDA = </a:t>
            </a:r>
            <a:r>
              <a:rPr lang="en-ID" b="0" dirty="0" err="1"/>
              <a:t>jembatan</a:t>
            </a:r>
            <a:r>
              <a:rPr lang="en-ID" b="0" dirty="0"/>
              <a:t> </a:t>
            </a:r>
            <a:r>
              <a:rPr lang="en-ID" b="0" dirty="0" err="1"/>
              <a:t>antara</a:t>
            </a:r>
            <a:r>
              <a:rPr lang="en-ID" b="0" dirty="0"/>
              <a:t> data dan </a:t>
            </a:r>
            <a:r>
              <a:rPr lang="en-ID" b="0" dirty="0" err="1"/>
              <a:t>keputusan</a:t>
            </a:r>
            <a:endParaRPr lang="en-ID" b="0" dirty="0"/>
          </a:p>
          <a:p>
            <a:endParaRPr lang="en-ID" b="0" dirty="0"/>
          </a:p>
          <a:p>
            <a:pPr marL="228600" indent="-228600">
              <a:buFont typeface="+mj-lt"/>
              <a:buAutoNum type="arabicPeriod" startAt="3"/>
            </a:pPr>
            <a:r>
              <a:rPr lang="en-ID" dirty="0"/>
              <a:t>CABANG INSIGHT HASIL EDA</a:t>
            </a:r>
          </a:p>
          <a:p>
            <a:pPr lvl="1"/>
            <a:r>
              <a:rPr lang="en-ID" b="0" dirty="0"/>
              <a:t>EDA </a:t>
            </a:r>
            <a:r>
              <a:rPr lang="en-ID" b="0" dirty="0" err="1"/>
              <a:t>menghasilkan</a:t>
            </a:r>
            <a:r>
              <a:rPr lang="en-ID" b="0" dirty="0"/>
              <a:t> 3 </a:t>
            </a:r>
            <a:r>
              <a:rPr lang="en-ID" b="0" dirty="0" err="1"/>
              <a:t>jenis</a:t>
            </a:r>
            <a:r>
              <a:rPr lang="en-ID" b="0" dirty="0"/>
              <a:t> insight </a:t>
            </a:r>
            <a:r>
              <a:rPr lang="en-ID" b="0" dirty="0" err="1"/>
              <a:t>berbeda</a:t>
            </a:r>
            <a:r>
              <a:rPr lang="en-ID" b="0" dirty="0"/>
              <a:t>, masing-masing </a:t>
            </a:r>
            <a:r>
              <a:rPr lang="en-ID" b="0" dirty="0" err="1"/>
              <a:t>dengan</a:t>
            </a:r>
            <a:r>
              <a:rPr lang="en-ID" b="0" dirty="0"/>
              <a:t> measure yang </a:t>
            </a:r>
            <a:r>
              <a:rPr lang="en-ID" b="0" dirty="0" err="1"/>
              <a:t>berbeda</a:t>
            </a:r>
            <a:r>
              <a:rPr lang="en-ID" b="0" dirty="0"/>
              <a:t>:</a:t>
            </a:r>
          </a:p>
          <a:p>
            <a:pPr lvl="1"/>
            <a:endParaRPr lang="en-ID" b="0" dirty="0"/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ID" b="0" dirty="0"/>
              <a:t>Downtime &amp; Cost Pattern -&gt; </a:t>
            </a:r>
            <a:r>
              <a:rPr lang="en-ID" b="1" dirty="0"/>
              <a:t>Strategic / Management Insight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ID" b="0" dirty="0"/>
              <a:t>Operational (Workload &amp; Effort) -&gt; </a:t>
            </a:r>
            <a:r>
              <a:rPr lang="en-ID" b="1" dirty="0"/>
              <a:t>Execution / Operational Insight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ID" b="0" dirty="0"/>
              <a:t>Diagnostic (Failure &amp; Root Cause) -&gt; </a:t>
            </a:r>
            <a:r>
              <a:rPr lang="en-ID" b="1" dirty="0"/>
              <a:t>Diagnostic / Problem-Solving Insight</a:t>
            </a:r>
          </a:p>
          <a:p>
            <a:pPr marL="0" indent="0">
              <a:buFont typeface="+mj-lt"/>
              <a:buNone/>
            </a:pPr>
            <a:endParaRPr lang="en-ID" dirty="0"/>
          </a:p>
          <a:p>
            <a:pPr marL="228600" indent="-228600">
              <a:buFont typeface="+mj-lt"/>
              <a:buAutoNum type="arabicPeriod" startAt="3"/>
            </a:pPr>
            <a:r>
              <a:rPr lang="en-ID" dirty="0"/>
              <a:t>PEMETAAN KE DASHBOARD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GB" b="1" dirty="0"/>
              <a:t>EXECUTIVE OVERVIEW </a:t>
            </a:r>
            <a:r>
              <a:rPr lang="en-GB" b="1" dirty="0" err="1"/>
              <a:t>Bermulai</a:t>
            </a:r>
            <a:r>
              <a:rPr lang="en-GB" b="1" dirty="0"/>
              <a:t> </a:t>
            </a:r>
            <a:r>
              <a:rPr lang="en-GB" b="1" dirty="0" err="1"/>
              <a:t>dari</a:t>
            </a:r>
            <a:r>
              <a:rPr lang="en-GB" b="1" dirty="0"/>
              <a:t>:</a:t>
            </a:r>
            <a:r>
              <a:rPr lang="en-GB" dirty="0"/>
              <a:t> Downtime &amp; Cost Pattern</a:t>
            </a:r>
          </a:p>
          <a:p>
            <a:pPr lvl="2"/>
            <a:r>
              <a:rPr lang="en-ID" b="1" dirty="0" err="1"/>
              <a:t>Menjawab</a:t>
            </a:r>
            <a:r>
              <a:rPr lang="en-ID" b="1" dirty="0"/>
              <a:t>:</a:t>
            </a:r>
            <a:endParaRPr lang="en-ID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membaik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memburuk</a:t>
            </a:r>
            <a:r>
              <a:rPr lang="en-ID" dirty="0"/>
              <a:t>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/>
              <a:t>Di mana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wajar</a:t>
            </a:r>
            <a:r>
              <a:rPr lang="en-ID" dirty="0"/>
              <a:t>?</a:t>
            </a:r>
          </a:p>
          <a:p>
            <a:pPr lvl="2"/>
            <a:r>
              <a:rPr lang="en-ID" dirty="0"/>
              <a:t>Output: </a:t>
            </a:r>
            <a:r>
              <a:rPr lang="en-ID" b="1" dirty="0"/>
              <a:t>strategic decision</a:t>
            </a:r>
            <a:endParaRPr lang="en-ID" dirty="0"/>
          </a:p>
          <a:p>
            <a:pPr marL="457200" lvl="1" indent="0">
              <a:buFont typeface="Wingdings" panose="05000000000000000000" pitchFamily="2" charset="2"/>
              <a:buNone/>
            </a:pPr>
            <a:endParaRPr lang="en-GB" dirty="0"/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GB" b="1" dirty="0"/>
              <a:t>MAINTENANCE &amp; OPERATIONS </a:t>
            </a:r>
            <a:r>
              <a:rPr lang="en-GB" b="1" dirty="0" err="1"/>
              <a:t>Bermulai</a:t>
            </a:r>
            <a:r>
              <a:rPr lang="en-GB" b="1" dirty="0"/>
              <a:t> </a:t>
            </a:r>
            <a:r>
              <a:rPr lang="en-GB" b="1" dirty="0" err="1"/>
              <a:t>dari</a:t>
            </a:r>
            <a:r>
              <a:rPr lang="en-GB" b="1" dirty="0"/>
              <a:t>:</a:t>
            </a:r>
            <a:r>
              <a:rPr lang="en-GB" dirty="0"/>
              <a:t> Workload &amp; Operational Effort</a:t>
            </a:r>
          </a:p>
          <a:p>
            <a:pPr lvl="2"/>
            <a:r>
              <a:rPr lang="en-ID" b="1" dirty="0" err="1"/>
              <a:t>Menjawab</a:t>
            </a:r>
            <a:r>
              <a:rPr lang="en-ID" b="1" dirty="0"/>
              <a:t>:</a:t>
            </a:r>
            <a:endParaRPr lang="en-ID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membaik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memburuk</a:t>
            </a:r>
            <a:r>
              <a:rPr lang="en-ID" dirty="0"/>
              <a:t>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/>
              <a:t>Di mana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wajar</a:t>
            </a:r>
            <a:r>
              <a:rPr lang="en-ID" dirty="0"/>
              <a:t>?</a:t>
            </a:r>
          </a:p>
          <a:p>
            <a:pPr lvl="2"/>
            <a:r>
              <a:rPr lang="en-ID" dirty="0"/>
              <a:t>Output: </a:t>
            </a:r>
            <a:r>
              <a:rPr lang="en-ID" b="1" dirty="0"/>
              <a:t>strategic decision</a:t>
            </a:r>
            <a:endParaRPr lang="en-ID" dirty="0"/>
          </a:p>
          <a:p>
            <a:pPr marL="457200" lvl="1" indent="0">
              <a:buFont typeface="Wingdings" panose="05000000000000000000" pitchFamily="2" charset="2"/>
              <a:buNone/>
            </a:pPr>
            <a:endParaRPr lang="en-GB" dirty="0"/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ID" b="1" dirty="0"/>
              <a:t>RCA &amp; RISK ANALYSIS </a:t>
            </a:r>
            <a:r>
              <a:rPr lang="en-ID" b="1" dirty="0" err="1"/>
              <a:t>Bermulai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:</a:t>
            </a:r>
            <a:r>
              <a:rPr lang="en-ID" dirty="0"/>
              <a:t> Failure &amp; Root Cause Pattern</a:t>
            </a:r>
          </a:p>
          <a:p>
            <a:pPr lvl="2"/>
            <a:r>
              <a:rPr lang="en-ID" b="1" dirty="0" err="1"/>
              <a:t>Menjawab</a:t>
            </a:r>
            <a:r>
              <a:rPr lang="en-ID" b="1" dirty="0"/>
              <a:t>:</a:t>
            </a:r>
            <a:endParaRPr lang="en-ID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 err="1"/>
              <a:t>Aset</a:t>
            </a:r>
            <a:r>
              <a:rPr lang="en-ID" dirty="0"/>
              <a:t> mana paling </a:t>
            </a:r>
            <a:r>
              <a:rPr lang="en-ID" dirty="0" err="1"/>
              <a:t>menyita</a:t>
            </a:r>
            <a:r>
              <a:rPr lang="en-ID" dirty="0"/>
              <a:t> effort?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/>
              <a:t>Site mana paling </a:t>
            </a:r>
            <a:r>
              <a:rPr lang="en-ID" dirty="0" err="1"/>
              <a:t>berat</a:t>
            </a:r>
            <a:r>
              <a:rPr lang="en-ID" dirty="0"/>
              <a:t> </a:t>
            </a:r>
            <a:r>
              <a:rPr lang="en-ID" dirty="0" err="1"/>
              <a:t>bebannya</a:t>
            </a:r>
            <a:r>
              <a:rPr lang="en-ID" dirty="0"/>
              <a:t>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?</a:t>
            </a:r>
          </a:p>
          <a:p>
            <a:pPr lvl="2"/>
            <a:r>
              <a:rPr lang="en-ID" dirty="0"/>
              <a:t>Output: </a:t>
            </a:r>
            <a:r>
              <a:rPr lang="en-ID" b="1" dirty="0"/>
              <a:t>operational execution</a:t>
            </a:r>
            <a:endParaRPr lang="en-ID" dirty="0"/>
          </a:p>
          <a:p>
            <a:pPr marL="457200" lvl="1" indent="0">
              <a:buFont typeface="Wingdings" panose="05000000000000000000" pitchFamily="2" charset="2"/>
              <a:buNone/>
            </a:pPr>
            <a:endParaRPr lang="en-GB" dirty="0"/>
          </a:p>
          <a:p>
            <a:pPr marL="628650" lvl="1" indent="-171450">
              <a:buFont typeface="Wingdings" panose="05000000000000000000" pitchFamily="2" charset="2"/>
              <a:buChar char="Ø"/>
            </a:pPr>
            <a:endParaRPr lang="en-GB" dirty="0"/>
          </a:p>
          <a:p>
            <a:pPr marL="628650" lvl="1" indent="-171450"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Font typeface="+mj-lt"/>
              <a:buNone/>
            </a:pPr>
            <a:endParaRPr lang="en-ID" b="0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474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2634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37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 b="1" dirty="0"/>
              <a:t>Kenapa ini di Executive Overview ?</a:t>
            </a:r>
            <a:br>
              <a:rPr lang="nn-NO" dirty="0"/>
            </a:br>
            <a:r>
              <a:rPr lang="nn-NO" dirty="0"/>
              <a:t>Karena manajemen perlu </a:t>
            </a:r>
            <a:r>
              <a:rPr lang="nn-NO" b="1" dirty="0"/>
              <a:t>arah performa &amp; sinyal risiko</a:t>
            </a:r>
            <a:r>
              <a:rPr lang="nn-NO" dirty="0"/>
              <a:t>, bukan detail teknis.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1754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11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 b="1" dirty="0"/>
              <a:t>Kenapa ada Dashboard ini ?</a:t>
            </a:r>
            <a:br>
              <a:rPr lang="nn-NO" dirty="0"/>
            </a:br>
            <a:r>
              <a:rPr lang="en-ID" dirty="0"/>
              <a:t>Karena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operational execution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strategic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9425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53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 err="1"/>
              <a:t>Kenapa</a:t>
            </a:r>
            <a:r>
              <a:rPr lang="en-ID" b="1" dirty="0"/>
              <a:t> failure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muncul</a:t>
            </a:r>
            <a:r>
              <a:rPr lang="en-ID" b="1" dirty="0"/>
              <a:t> di Ops</a:t>
            </a:r>
            <a:br>
              <a:rPr lang="nn-NO" dirty="0"/>
            </a:br>
            <a:r>
              <a:rPr lang="en-ID" dirty="0"/>
              <a:t>Karena failure analysis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diagnostic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2787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9739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0" dirty="0"/>
              <a:t>Executive </a:t>
            </a:r>
            <a:r>
              <a:rPr lang="en-ID" b="0" dirty="0" err="1"/>
              <a:t>tidak</a:t>
            </a:r>
            <a:r>
              <a:rPr lang="en-ID" b="0" dirty="0"/>
              <a:t> </a:t>
            </a:r>
            <a:r>
              <a:rPr lang="en-ID" b="0" dirty="0" err="1"/>
              <a:t>butuh</a:t>
            </a:r>
            <a:r>
              <a:rPr lang="en-ID" b="0" dirty="0"/>
              <a:t> detail, </a:t>
            </a:r>
            <a:r>
              <a:rPr lang="en-ID" b="0" dirty="0" err="1"/>
              <a:t>mereka</a:t>
            </a:r>
            <a:r>
              <a:rPr lang="en-ID" b="0" dirty="0"/>
              <a:t> </a:t>
            </a:r>
            <a:r>
              <a:rPr lang="en-ID" b="0" dirty="0" err="1"/>
              <a:t>butuh</a:t>
            </a:r>
            <a:r>
              <a:rPr lang="en-ID" b="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Signal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Direction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Priority</a:t>
            </a:r>
          </a:p>
          <a:p>
            <a:endParaRPr lang="en-ID" b="0" dirty="0"/>
          </a:p>
          <a:p>
            <a:r>
              <a:rPr lang="en-ID" b="0" dirty="0"/>
              <a:t>Output </a:t>
            </a:r>
            <a:r>
              <a:rPr lang="en-ID" b="0" dirty="0" err="1"/>
              <a:t>dari</a:t>
            </a:r>
            <a:r>
              <a:rPr lang="en-ID" b="0" dirty="0"/>
              <a:t> dashboard Executive 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“Ada </a:t>
            </a:r>
            <a:r>
              <a:rPr lang="en-ID" b="0" dirty="0" err="1"/>
              <a:t>masalah</a:t>
            </a:r>
            <a:r>
              <a:rPr lang="en-ID" b="0" dirty="0"/>
              <a:t> di </a:t>
            </a:r>
            <a:r>
              <a:rPr lang="en-ID" b="0" dirty="0" err="1"/>
              <a:t>sini</a:t>
            </a:r>
            <a:r>
              <a:rPr lang="en-ID" b="0" dirty="0"/>
              <a:t>. Kita </a:t>
            </a:r>
            <a:r>
              <a:rPr lang="en-ID" b="0" dirty="0" err="1"/>
              <a:t>perlu</a:t>
            </a:r>
            <a:r>
              <a:rPr lang="en-ID" b="0" dirty="0"/>
              <a:t> </a:t>
            </a:r>
            <a:r>
              <a:rPr lang="en-ID" b="0" dirty="0" err="1"/>
              <a:t>turun</a:t>
            </a:r>
            <a:r>
              <a:rPr lang="en-ID" b="0" dirty="0"/>
              <a:t> </a:t>
            </a:r>
            <a:r>
              <a:rPr lang="en-ID" b="0" dirty="0" err="1"/>
              <a:t>lebih</a:t>
            </a:r>
            <a:r>
              <a:rPr lang="en-ID" b="0" dirty="0"/>
              <a:t> </a:t>
            </a:r>
            <a:r>
              <a:rPr lang="en-ID" b="0" dirty="0" err="1"/>
              <a:t>dalam</a:t>
            </a:r>
            <a:r>
              <a:rPr lang="en-ID" b="0" dirty="0"/>
              <a:t>.”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D" b="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b="0" dirty="0" err="1"/>
              <a:t>Kalau</a:t>
            </a:r>
            <a:r>
              <a:rPr lang="en-ID" b="0" dirty="0"/>
              <a:t> </a:t>
            </a:r>
            <a:r>
              <a:rPr lang="en-ID" b="0" dirty="0" err="1"/>
              <a:t>aman</a:t>
            </a:r>
            <a:r>
              <a:rPr lang="en-ID" b="0" dirty="0"/>
              <a:t> → </a:t>
            </a:r>
            <a:r>
              <a:rPr lang="en-ID" b="0" dirty="0" err="1"/>
              <a:t>tidak</a:t>
            </a:r>
            <a:r>
              <a:rPr lang="en-ID" b="0" dirty="0"/>
              <a:t> </a:t>
            </a:r>
            <a:r>
              <a:rPr lang="en-ID" b="0" dirty="0" err="1"/>
              <a:t>perlu</a:t>
            </a:r>
            <a:r>
              <a:rPr lang="en-ID" b="0" dirty="0"/>
              <a:t> </a:t>
            </a:r>
            <a:r>
              <a:rPr lang="en-ID" b="0" dirty="0" err="1"/>
              <a:t>lanjut</a:t>
            </a:r>
            <a:r>
              <a:rPr lang="en-ID" b="0" dirty="0"/>
              <a:t> </a:t>
            </a:r>
            <a:r>
              <a:rPr lang="en-ID" b="0" dirty="0" err="1"/>
              <a:t>ke</a:t>
            </a:r>
            <a:r>
              <a:rPr lang="en-ID" b="0" dirty="0"/>
              <a:t> dashboard lain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b="1" dirty="0" err="1">
                <a:solidFill>
                  <a:srgbClr val="FFFF00"/>
                </a:solidFill>
              </a:rPr>
              <a:t>Kalau</a:t>
            </a:r>
            <a:r>
              <a:rPr lang="en-ID" b="1" dirty="0">
                <a:solidFill>
                  <a:srgbClr val="FFFF00"/>
                </a:solidFill>
              </a:rPr>
              <a:t> </a:t>
            </a:r>
            <a:r>
              <a:rPr lang="en-ID" b="1" dirty="0" err="1">
                <a:solidFill>
                  <a:srgbClr val="FFFF00"/>
                </a:solidFill>
              </a:rPr>
              <a:t>ada</a:t>
            </a:r>
            <a:r>
              <a:rPr lang="en-ID" b="1" dirty="0">
                <a:solidFill>
                  <a:srgbClr val="FFFF00"/>
                </a:solidFill>
              </a:rPr>
              <a:t> </a:t>
            </a:r>
            <a:r>
              <a:rPr lang="en-ID" b="1" dirty="0" err="1">
                <a:solidFill>
                  <a:srgbClr val="FFFF00"/>
                </a:solidFill>
              </a:rPr>
              <a:t>risiko</a:t>
            </a:r>
            <a:r>
              <a:rPr lang="en-ID" b="1" dirty="0">
                <a:solidFill>
                  <a:srgbClr val="FFFF00"/>
                </a:solidFill>
              </a:rPr>
              <a:t> </a:t>
            </a:r>
            <a:r>
              <a:rPr lang="en-ID" b="0" dirty="0"/>
              <a:t>→ </a:t>
            </a:r>
            <a:r>
              <a:rPr lang="en-ID" b="0" dirty="0" err="1"/>
              <a:t>lanjut</a:t>
            </a:r>
            <a:r>
              <a:rPr lang="en-ID" b="0" dirty="0"/>
              <a:t> </a:t>
            </a:r>
            <a:r>
              <a:rPr lang="en-ID" b="0" dirty="0" err="1"/>
              <a:t>ke</a:t>
            </a:r>
            <a:r>
              <a:rPr lang="en-ID" b="0" dirty="0"/>
              <a:t> </a:t>
            </a:r>
            <a:r>
              <a:rPr lang="en-ID" b="1" dirty="0">
                <a:solidFill>
                  <a:srgbClr val="FFFF00"/>
                </a:solidFill>
              </a:rPr>
              <a:t>Maintenance &amp; Operations</a:t>
            </a:r>
          </a:p>
          <a:p>
            <a:endParaRPr lang="en-ID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7896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0" dirty="0" err="1"/>
              <a:t>Kenapa</a:t>
            </a:r>
            <a:r>
              <a:rPr lang="en-ID" b="0" dirty="0"/>
              <a:t> </a:t>
            </a:r>
            <a:r>
              <a:rPr lang="en-ID" b="0" dirty="0" err="1"/>
              <a:t>ini</a:t>
            </a:r>
            <a:r>
              <a:rPr lang="en-ID" b="0" dirty="0"/>
              <a:t> </a:t>
            </a:r>
            <a:r>
              <a:rPr lang="en-ID" b="0" dirty="0" err="1"/>
              <a:t>dilakukan</a:t>
            </a:r>
            <a:r>
              <a:rPr lang="en-ID" b="0" dirty="0"/>
              <a:t> </a:t>
            </a:r>
            <a:r>
              <a:rPr lang="en-ID" b="0" dirty="0" err="1"/>
              <a:t>eksekusi</a:t>
            </a:r>
            <a:r>
              <a:rPr lang="en-ID" b="0" dirty="0"/>
              <a:t> :</a:t>
            </a:r>
          </a:p>
          <a:p>
            <a:endParaRPr lang="en-ID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 </a:t>
            </a:r>
            <a:r>
              <a:rPr lang="en-ID" b="0" dirty="0" err="1"/>
              <a:t>Setelah</a:t>
            </a:r>
            <a:r>
              <a:rPr lang="en-ID" b="0" dirty="0"/>
              <a:t> </a:t>
            </a:r>
            <a:r>
              <a:rPr lang="en-ID" b="0" dirty="0" err="1"/>
              <a:t>tahu</a:t>
            </a:r>
            <a:r>
              <a:rPr lang="en-ID" b="0" dirty="0"/>
              <a:t> ADA MASALAH, </a:t>
            </a:r>
            <a:r>
              <a:rPr lang="en-ID" b="0" dirty="0" err="1"/>
              <a:t>sekarang</a:t>
            </a:r>
            <a:r>
              <a:rPr lang="en-ID" b="0" dirty="0"/>
              <a:t> </a:t>
            </a:r>
            <a:r>
              <a:rPr lang="en-ID" b="0" dirty="0" err="1"/>
              <a:t>perlu</a:t>
            </a:r>
            <a:r>
              <a:rPr lang="en-ID" b="0" dirty="0"/>
              <a:t> </a:t>
            </a:r>
            <a:r>
              <a:rPr lang="en-ID" b="0" dirty="0" err="1"/>
              <a:t>tahu</a:t>
            </a:r>
            <a:r>
              <a:rPr lang="en-ID" b="0" dirty="0"/>
              <a:t>:</a:t>
            </a:r>
          </a:p>
          <a:p>
            <a:pPr>
              <a:buFont typeface="Arial" panose="020B0604020202020204" pitchFamily="34" charset="0"/>
              <a:buNone/>
            </a:pPr>
            <a:r>
              <a:rPr lang="en-ID" b="0" dirty="0"/>
              <a:t>    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b="0" dirty="0"/>
              <a:t> </a:t>
            </a:r>
            <a:r>
              <a:rPr lang="en-ID" b="0" dirty="0" err="1"/>
              <a:t>Masalahnya</a:t>
            </a:r>
            <a:r>
              <a:rPr lang="en-ID" b="0" dirty="0"/>
              <a:t> di mana </a:t>
            </a:r>
            <a:r>
              <a:rPr lang="en-ID" b="0" dirty="0" err="1"/>
              <a:t>secara</a:t>
            </a:r>
            <a:r>
              <a:rPr lang="en-ID" b="0" dirty="0"/>
              <a:t> </a:t>
            </a:r>
            <a:r>
              <a:rPr lang="en-ID" b="0" dirty="0" err="1"/>
              <a:t>operasional</a:t>
            </a:r>
            <a:endParaRPr lang="en-ID" b="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D" b="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b="0" dirty="0" err="1"/>
              <a:t>Siapa</a:t>
            </a:r>
            <a:r>
              <a:rPr lang="en-ID" b="0" dirty="0"/>
              <a:t> / </a:t>
            </a:r>
            <a:r>
              <a:rPr lang="en-ID" b="0" dirty="0" err="1"/>
              <a:t>aset</a:t>
            </a:r>
            <a:r>
              <a:rPr lang="en-ID" b="0" dirty="0"/>
              <a:t> mana yang </a:t>
            </a:r>
            <a:r>
              <a:rPr lang="en-ID" b="0" dirty="0" err="1"/>
              <a:t>harus</a:t>
            </a:r>
            <a:r>
              <a:rPr lang="en-ID" b="0" dirty="0"/>
              <a:t> </a:t>
            </a:r>
            <a:r>
              <a:rPr lang="en-ID" b="0" dirty="0" err="1"/>
              <a:t>ditangani</a:t>
            </a:r>
            <a:r>
              <a:rPr lang="en-ID" b="0" dirty="0"/>
              <a:t> </a:t>
            </a:r>
            <a:r>
              <a:rPr lang="en-ID" b="0" dirty="0" err="1"/>
              <a:t>dulu</a:t>
            </a:r>
            <a:endParaRPr lang="en-ID" b="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D" b="0" dirty="0"/>
          </a:p>
          <a:p>
            <a:r>
              <a:rPr lang="en-ID" b="0" dirty="0"/>
              <a:t>Output </a:t>
            </a:r>
            <a:r>
              <a:rPr lang="en-ID" b="0" dirty="0" err="1"/>
              <a:t>dari</a:t>
            </a:r>
            <a:r>
              <a:rPr lang="en-ID" b="0" dirty="0"/>
              <a:t> dashboard </a:t>
            </a:r>
            <a:r>
              <a:rPr lang="en-ID" b="0" dirty="0" err="1"/>
              <a:t>ini</a:t>
            </a:r>
            <a:r>
              <a:rPr lang="en-ID" b="0" dirty="0"/>
              <a:t> 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 “</a:t>
            </a:r>
            <a:r>
              <a:rPr lang="en-ID" b="0" dirty="0" err="1"/>
              <a:t>Masalahnya</a:t>
            </a:r>
            <a:r>
              <a:rPr lang="en-ID" b="0" dirty="0"/>
              <a:t> </a:t>
            </a:r>
            <a:r>
              <a:rPr lang="en-ID" b="0" dirty="0" err="1"/>
              <a:t>ada</a:t>
            </a:r>
            <a:r>
              <a:rPr lang="en-ID" b="0" dirty="0"/>
              <a:t> di equipment A dan B, </a:t>
            </a:r>
            <a:r>
              <a:rPr lang="en-ID" b="0" dirty="0" err="1"/>
              <a:t>terutama</a:t>
            </a:r>
            <a:r>
              <a:rPr lang="en-ID" b="0" dirty="0"/>
              <a:t> di site X. Beban </a:t>
            </a:r>
            <a:r>
              <a:rPr lang="en-ID" b="0" dirty="0" err="1"/>
              <a:t>tim</a:t>
            </a:r>
            <a:r>
              <a:rPr lang="en-ID" b="0" dirty="0"/>
              <a:t> juga </a:t>
            </a:r>
            <a:r>
              <a:rPr lang="en-ID" b="0" dirty="0" err="1"/>
              <a:t>tinggi</a:t>
            </a:r>
            <a:r>
              <a:rPr lang="en-ID" b="0" dirty="0"/>
              <a:t>.”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b="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b="0" dirty="0" err="1"/>
              <a:t>Kalau</a:t>
            </a:r>
            <a:r>
              <a:rPr lang="en-ID" b="0" dirty="0"/>
              <a:t> </a:t>
            </a:r>
            <a:r>
              <a:rPr lang="en-ID" b="0" dirty="0" err="1"/>
              <a:t>masih</a:t>
            </a:r>
            <a:r>
              <a:rPr lang="en-ID" b="0" dirty="0"/>
              <a:t> </a:t>
            </a:r>
            <a:r>
              <a:rPr lang="en-ID" b="0" dirty="0" err="1"/>
              <a:t>belum</a:t>
            </a:r>
            <a:r>
              <a:rPr lang="en-ID" b="0" dirty="0"/>
              <a:t> </a:t>
            </a:r>
            <a:r>
              <a:rPr lang="en-ID" b="0" dirty="0" err="1"/>
              <a:t>jelas</a:t>
            </a:r>
            <a:r>
              <a:rPr lang="en-ID" b="0" dirty="0"/>
              <a:t> </a:t>
            </a:r>
            <a:r>
              <a:rPr lang="en-ID" b="0" dirty="0" err="1"/>
              <a:t>penyebabnya</a:t>
            </a:r>
            <a:r>
              <a:rPr lang="en-ID" b="0" dirty="0"/>
              <a:t> → </a:t>
            </a:r>
            <a:r>
              <a:rPr lang="en-ID" b="0" dirty="0" err="1"/>
              <a:t>lanjut</a:t>
            </a:r>
            <a:r>
              <a:rPr lang="en-ID" b="0" dirty="0"/>
              <a:t> </a:t>
            </a:r>
            <a:r>
              <a:rPr lang="en-ID" b="0" dirty="0" err="1"/>
              <a:t>ke</a:t>
            </a:r>
            <a:r>
              <a:rPr lang="en-ID" b="0" dirty="0"/>
              <a:t> </a:t>
            </a:r>
            <a:r>
              <a:rPr lang="en-ID" b="1" dirty="0"/>
              <a:t>dashboard RCA</a:t>
            </a:r>
          </a:p>
          <a:p>
            <a:endParaRPr lang="en-ID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1332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0" dirty="0" err="1"/>
              <a:t>Kenapa</a:t>
            </a:r>
            <a:r>
              <a:rPr lang="en-ID" b="0" dirty="0"/>
              <a:t> </a:t>
            </a:r>
            <a:r>
              <a:rPr lang="en-ID" b="0" dirty="0" err="1"/>
              <a:t>ini</a:t>
            </a:r>
            <a:r>
              <a:rPr lang="en-ID" b="0" dirty="0"/>
              <a:t> </a:t>
            </a:r>
            <a:r>
              <a:rPr lang="en-ID" b="0" dirty="0" err="1"/>
              <a:t>langkah</a:t>
            </a:r>
            <a:r>
              <a:rPr lang="en-ID" b="0" dirty="0"/>
              <a:t> </a:t>
            </a:r>
            <a:r>
              <a:rPr lang="en-ID" b="0" dirty="0" err="1"/>
              <a:t>dilakukan</a:t>
            </a:r>
            <a:r>
              <a:rPr lang="en-ID" b="0" dirty="0"/>
              <a:t> :</a:t>
            </a:r>
          </a:p>
          <a:p>
            <a:endParaRPr lang="en-ID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RCA </a:t>
            </a:r>
            <a:r>
              <a:rPr lang="en-ID" b="0" dirty="0" err="1"/>
              <a:t>bukan</a:t>
            </a:r>
            <a:r>
              <a:rPr lang="en-ID" b="0" dirty="0"/>
              <a:t> </a:t>
            </a:r>
            <a:r>
              <a:rPr lang="en-ID" b="0" dirty="0" err="1"/>
              <a:t>untuk</a:t>
            </a:r>
            <a:r>
              <a:rPr lang="en-ID" b="0" dirty="0"/>
              <a:t> </a:t>
            </a:r>
            <a:r>
              <a:rPr lang="en-ID" b="0" dirty="0" err="1"/>
              <a:t>semua</a:t>
            </a:r>
            <a:r>
              <a:rPr lang="en-ID" b="0" dirty="0"/>
              <a:t> orang dan </a:t>
            </a:r>
            <a:r>
              <a:rPr lang="en-ID" b="0" dirty="0" err="1"/>
              <a:t>bukan</a:t>
            </a:r>
            <a:r>
              <a:rPr lang="en-ID" b="0" dirty="0"/>
              <a:t> </a:t>
            </a:r>
            <a:r>
              <a:rPr lang="en-ID" b="0" dirty="0" err="1"/>
              <a:t>langkah</a:t>
            </a:r>
            <a:r>
              <a:rPr lang="en-ID" b="0" dirty="0"/>
              <a:t> </a:t>
            </a:r>
            <a:r>
              <a:rPr lang="en-ID" b="0" dirty="0" err="1"/>
              <a:t>awal</a:t>
            </a:r>
            <a:r>
              <a:rPr lang="en-ID" b="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D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RCA </a:t>
            </a:r>
            <a:r>
              <a:rPr lang="en-ID" b="0" dirty="0" err="1"/>
              <a:t>dilakukan</a:t>
            </a:r>
            <a:r>
              <a:rPr lang="en-ID" b="0" dirty="0"/>
              <a:t> </a:t>
            </a:r>
            <a:r>
              <a:rPr lang="en-ID" b="0" dirty="0" err="1"/>
              <a:t>hanya</a:t>
            </a:r>
            <a:r>
              <a:rPr lang="en-ID" b="0" dirty="0"/>
              <a:t> </a:t>
            </a:r>
            <a:r>
              <a:rPr lang="en-ID" b="0" dirty="0" err="1"/>
              <a:t>jika</a:t>
            </a:r>
            <a:r>
              <a:rPr lang="en-ID" b="0" dirty="0"/>
              <a:t> </a:t>
            </a:r>
            <a:r>
              <a:rPr lang="en-ID" b="0" dirty="0" err="1"/>
              <a:t>memang</a:t>
            </a:r>
            <a:r>
              <a:rPr lang="en-ID" b="0" dirty="0"/>
              <a:t> </a:t>
            </a:r>
            <a:r>
              <a:rPr lang="en-ID" b="0" dirty="0" err="1"/>
              <a:t>diperlukan</a:t>
            </a:r>
            <a:r>
              <a:rPr lang="en-ID" b="0" dirty="0"/>
              <a:t>.</a:t>
            </a:r>
          </a:p>
          <a:p>
            <a:endParaRPr lang="en-ID" b="0" dirty="0"/>
          </a:p>
          <a:p>
            <a:r>
              <a:rPr lang="en-ID" b="0" dirty="0"/>
              <a:t>Output </a:t>
            </a:r>
            <a:r>
              <a:rPr lang="en-ID" b="0" dirty="0" err="1"/>
              <a:t>dari</a:t>
            </a:r>
            <a:r>
              <a:rPr lang="en-ID" b="0" dirty="0"/>
              <a:t> dashboard </a:t>
            </a:r>
            <a:r>
              <a:rPr lang="en-ID" b="0" dirty="0" err="1"/>
              <a:t>ini</a:t>
            </a:r>
            <a:r>
              <a:rPr lang="en-ID" b="0" dirty="0"/>
              <a:t>:</a:t>
            </a:r>
          </a:p>
          <a:p>
            <a:endParaRPr lang="en-ID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b="0" dirty="0"/>
              <a:t>“Root cause </a:t>
            </a:r>
            <a:r>
              <a:rPr lang="en-ID" b="0" dirty="0" err="1"/>
              <a:t>utamanya</a:t>
            </a:r>
            <a:r>
              <a:rPr lang="en-ID" b="0" dirty="0"/>
              <a:t> failure type X. Kita </a:t>
            </a:r>
            <a:r>
              <a:rPr lang="en-ID" b="0" dirty="0" err="1"/>
              <a:t>perlu</a:t>
            </a:r>
            <a:r>
              <a:rPr lang="en-ID" b="0" dirty="0"/>
              <a:t> corrective action Y.”</a:t>
            </a:r>
          </a:p>
          <a:p>
            <a:endParaRPr lang="en-ID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02B62-6680-4AF6-9401-63DC1718E8D1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7586637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image" Target="/ppt/media/image2.png" Id="rId2" /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F0A0A8E-E934-47D8-8E2A-94C68FEC83F4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55F698-998E-4EB1-ACFA-6BC0A810628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50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0A8E-E934-47D8-8E2A-94C68FEC83F4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698-998E-4EB1-ACFA-6BC0A810628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8336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0A8E-E934-47D8-8E2A-94C68FEC83F4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698-998E-4EB1-ACFA-6BC0A810628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64775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image" Target="/ppt/media/image2.png" Id="rId19" /></Relationships>
</file>

<file path=ppt/slideMasters/slideMaster1.xml><?xml version="1.0" encoding="utf-8"?>
<p:sldMaster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A0A8E-E934-47D8-8E2A-94C68FEC83F4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5F698-998E-4EB1-ACFA-6BC0A810628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9710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jpe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4.pn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png" Id="rId3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6.jpe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2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7.jpg" Id="rId2" /><Relationship Type="http://schemas.openxmlformats.org/officeDocument/2006/relationships/slideLayout" Target="/ppt/slideLayouts/slideLayout2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2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2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8.jpg" Id="rId2" /><Relationship Type="http://schemas.openxmlformats.org/officeDocument/2006/relationships/slideLayout" Target="/ppt/slideLayouts/slideLayout2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2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2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9.jpg" Id="rId2" /><Relationship Type="http://schemas.openxmlformats.org/officeDocument/2006/relationships/slideLayout" Target="/ppt/slideLayouts/slideLayout2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2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2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" Target="/ppt/slides/slide14.xml" Id="rId3" /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2.xml" Id="rId1" /><Relationship Type="http://schemas.openxmlformats.org/officeDocument/2006/relationships/slide" Target="/ppt/slides/slide16.xml" Id="rId5" /><Relationship Type="http://schemas.openxmlformats.org/officeDocument/2006/relationships/slide" Target="/ppt/slides/slide15.xml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Id2" /><Relationship Type="http://schemas.openxmlformats.org/officeDocument/2006/relationships/slideLayout" Target="/ppt/slideLayouts/slideLayout2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Id2" /><Relationship Type="http://schemas.openxmlformats.org/officeDocument/2006/relationships/slideLayout" Target="/ppt/slideLayouts/slideLayout2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Id2" /><Relationship Type="http://schemas.openxmlformats.org/officeDocument/2006/relationships/slideLayout" Target="/ppt/slideLayouts/slideLayout2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8AAD-E5B2-6EBD-353D-AA63B2710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785" y="1251283"/>
            <a:ext cx="10289406" cy="1626671"/>
          </a:xfrm>
        </p:spPr>
        <p:txBody>
          <a:bodyPr>
            <a:normAutofit/>
          </a:bodyPr>
          <a:lstStyle/>
          <a:p>
            <a:pPr algn="ctr"/>
            <a:r>
              <a:rPr lang="en-ID" sz="3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to Dashboard Mapping </a:t>
            </a:r>
            <a:br>
              <a:rPr lang="en-ID" sz="3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D" sz="36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D" sz="28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(PENJELASAN YANG LEBIH DETAIL, MENDALAM, DAN TERSTRUKTUR)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08619-F843-AAF7-1BB4-0FD2BD07B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9561" y="4142439"/>
            <a:ext cx="8791575" cy="671579"/>
          </a:xfrm>
        </p:spPr>
        <p:txBody>
          <a:bodyPr/>
          <a:lstStyle/>
          <a:p>
            <a:pPr algn="ctr"/>
            <a:r>
              <a:rPr lang="en-GB" b="1" i="1" dirty="0">
                <a:solidFill>
                  <a:srgbClr val="FFFF00"/>
                </a:solidFill>
              </a:rPr>
              <a:t>Presented by: Achmad Surya Andono</a:t>
            </a:r>
          </a:p>
          <a:p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827577-48D8-31B3-B137-CDC787503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2107" y="904775"/>
            <a:ext cx="1337108" cy="1337108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2FBC0C5-C03A-7796-1E05-99266FEDA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557" y="1170321"/>
            <a:ext cx="1071562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22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BE76-2D61-CD46-278A-7AB05FD6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984" y="204234"/>
            <a:ext cx="10107955" cy="586664"/>
          </a:xfrm>
        </p:spPr>
        <p:txBody>
          <a:bodyPr>
            <a:noAutofit/>
          </a:bodyPr>
          <a:lstStyle/>
          <a:p>
            <a:pPr algn="ctr"/>
            <a:r>
              <a:rPr lang="pt-BR" sz="3200" b="1" dirty="0">
                <a:solidFill>
                  <a:srgbClr val="FFFF00"/>
                </a:solidFill>
              </a:rPr>
              <a:t>visual diagram EDA ke dashboard</a:t>
            </a:r>
            <a:endParaRPr lang="en-ID" sz="3200" b="1" dirty="0">
              <a:solidFill>
                <a:srgbClr val="FFFF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C5FC2C-81D4-1F8E-1507-3B9BEBC94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4395"/>
            <a:ext cx="5212022" cy="3428823"/>
          </a:xfrm>
        </p:spPr>
      </p:pic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4F96DE04-AA41-60A3-B686-52DCCA0516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978" y="1085425"/>
            <a:ext cx="5212022" cy="498859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7EF8E6B-29DE-4249-C780-26B0963E78C3}"/>
              </a:ext>
            </a:extLst>
          </p:cNvPr>
          <p:cNvSpPr/>
          <p:nvPr/>
        </p:nvSpPr>
        <p:spPr>
          <a:xfrm>
            <a:off x="5423778" y="2572142"/>
            <a:ext cx="1262572" cy="586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D3621-C8D9-8A80-EF9B-985854236181}"/>
              </a:ext>
            </a:extLst>
          </p:cNvPr>
          <p:cNvSpPr txBox="1"/>
          <p:nvPr/>
        </p:nvSpPr>
        <p:spPr>
          <a:xfrm>
            <a:off x="5324433" y="3158806"/>
            <a:ext cx="165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Detail Diagram</a:t>
            </a:r>
            <a:endParaRPr lang="en-ID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16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DAE8-294E-FA12-9177-56ACC7F6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3200" b="1" dirty="0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EDA </a:t>
            </a:r>
            <a:r>
              <a:rPr lang="en-ID" sz="3200" b="1" dirty="0" err="1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menghasilkan</a:t>
            </a:r>
            <a:r>
              <a:rPr lang="en-ID" sz="3200" b="1" dirty="0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 3 </a:t>
            </a:r>
            <a:r>
              <a:rPr lang="en-ID" sz="3200" b="1" dirty="0" err="1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jenis</a:t>
            </a:r>
            <a:r>
              <a:rPr lang="en-ID" sz="3200" b="1" dirty="0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 insight </a:t>
            </a:r>
            <a:r>
              <a:rPr lang="en-ID" sz="3200" b="1" dirty="0" err="1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utama</a:t>
            </a:r>
            <a:r>
              <a:rPr lang="en-ID" sz="3200" b="1" dirty="0">
                <a:solidFill>
                  <a:srgbClr val="FFFF00"/>
                </a:solidFill>
                <a:latin typeface="+mn-lt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610B-8535-115E-2989-B02175F66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93352"/>
            <a:ext cx="9905999" cy="161986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DOWNTIME &amp; COST INSIGHTS → EXECUTIVE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WORKLOAD &amp; OPERATIONAL EFFORT → MAINTENANCE &amp; OPERATIONS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FAILURE DOMINANCE &amp; ROOT CAUSE → RCA &amp; RISK ANALYSIS</a:t>
            </a:r>
          </a:p>
          <a:p>
            <a:pPr marL="0" indent="0">
              <a:buNone/>
            </a:pPr>
            <a:endParaRPr lang="en-ID" dirty="0"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323DFE-7085-2659-2C1D-7611BB465105}"/>
              </a:ext>
            </a:extLst>
          </p:cNvPr>
          <p:cNvSpPr txBox="1">
            <a:spLocks/>
          </p:cNvSpPr>
          <p:nvPr/>
        </p:nvSpPr>
        <p:spPr>
          <a:xfrm>
            <a:off x="3161114" y="3701297"/>
            <a:ext cx="9905999" cy="2709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FFFF00"/>
                </a:solidFill>
              </a:rPr>
              <a:t>Decision Outcome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Executive Overview → Strategic decisions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Maintenance &amp; Operations → Operational execution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RCA &amp; Risk Analysis → Corrective action planning</a:t>
            </a:r>
          </a:p>
        </p:txBody>
      </p:sp>
    </p:spTree>
    <p:extLst>
      <p:ext uri="{BB962C8B-B14F-4D97-AF65-F5344CB8AC3E}">
        <p14:creationId xmlns:p14="http://schemas.microsoft.com/office/powerpoint/2010/main" val="385375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5EEE-5374-86FA-8F6C-0B3688DE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569" y="132631"/>
            <a:ext cx="10485905" cy="1017777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FFFF00"/>
                </a:solidFill>
              </a:rPr>
              <a:t>1. DOWNTIME &amp; COST INSIGHTS → EXECUTIVE OVERVIEW</a:t>
            </a:r>
            <a:endParaRPr lang="en-ID" sz="2800" b="1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7204D-713E-D531-E0CF-E76AD7FCF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58" y="984450"/>
            <a:ext cx="9927005" cy="574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3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BE76-2D61-CD46-278A-7AB05FD6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71610"/>
            <a:ext cx="10644187" cy="702167"/>
          </a:xfrm>
        </p:spPr>
        <p:txBody>
          <a:bodyPr>
            <a:normAutofit/>
          </a:bodyPr>
          <a:lstStyle/>
          <a:p>
            <a:r>
              <a:rPr lang="en-ID" sz="3200" b="1" dirty="0">
                <a:solidFill>
                  <a:srgbClr val="FFFF00"/>
                </a:solidFill>
              </a:rPr>
              <a:t>1. DOWNTIME &amp; COST INSIGHTS → EXECUTIVE OVERVIEW</a:t>
            </a:r>
            <a:endParaRPr lang="en-ID" sz="3200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6FB-D261-A908-CEC0-DDF243470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988" y="973777"/>
            <a:ext cx="9522580" cy="5884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/>
              <a:t>Dari EDA, </a:t>
            </a:r>
            <a:r>
              <a:rPr lang="en-ID" dirty="0" err="1"/>
              <a:t>ditemukan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Downtime </a:t>
            </a:r>
            <a:r>
              <a:rPr lang="en-ID" dirty="0" err="1"/>
              <a:t>berfluktuasi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waktu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Downtime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equipment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maintenance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sejalan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downtime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Measure EDA yang </a:t>
            </a:r>
            <a:r>
              <a:rPr lang="en-ID" dirty="0" err="1"/>
              <a:t>mendasari</a:t>
            </a:r>
            <a:r>
              <a:rPr lang="en-ID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Total Downtime (Hours)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Downtime MoM 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Total Maintenance Cost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Cost per Downtime Hour</a:t>
            </a:r>
          </a:p>
        </p:txBody>
      </p:sp>
    </p:spTree>
    <p:extLst>
      <p:ext uri="{BB962C8B-B14F-4D97-AF65-F5344CB8AC3E}">
        <p14:creationId xmlns:p14="http://schemas.microsoft.com/office/powerpoint/2010/main" val="198226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D380-941B-5BAC-C490-7094994F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7749"/>
          </a:xfrm>
        </p:spPr>
        <p:txBody>
          <a:bodyPr>
            <a:normAutofit fontScale="90000"/>
          </a:bodyPr>
          <a:lstStyle/>
          <a:p>
            <a:r>
              <a:rPr lang="en-ID" sz="3200" b="1" dirty="0">
                <a:solidFill>
                  <a:srgbClr val="FFFF00"/>
                </a:solidFill>
              </a:rPr>
              <a:t>1. </a:t>
            </a:r>
            <a:r>
              <a:rPr lang="en-ID" sz="3200" b="1" dirty="0" err="1">
                <a:solidFill>
                  <a:srgbClr val="FFFF00"/>
                </a:solidFill>
              </a:rPr>
              <a:t>Dampak</a:t>
            </a:r>
            <a:r>
              <a:rPr lang="en-ID" sz="3200" b="1" dirty="0">
                <a:solidFill>
                  <a:srgbClr val="FFFF00"/>
                </a:solidFill>
              </a:rPr>
              <a:t> </a:t>
            </a:r>
            <a:r>
              <a:rPr lang="en-ID" sz="3200" b="1" dirty="0" err="1">
                <a:solidFill>
                  <a:srgbClr val="FFFF00"/>
                </a:solidFill>
              </a:rPr>
              <a:t>ke</a:t>
            </a:r>
            <a:r>
              <a:rPr lang="en-ID" sz="3200" b="1" dirty="0">
                <a:solidFill>
                  <a:srgbClr val="FFFF00"/>
                </a:solidFill>
              </a:rPr>
              <a:t> </a:t>
            </a:r>
            <a:r>
              <a:rPr lang="en-ID" sz="3200" b="1" dirty="0" err="1">
                <a:solidFill>
                  <a:srgbClr val="FFFF00"/>
                </a:solidFill>
              </a:rPr>
              <a:t>desain</a:t>
            </a:r>
            <a:r>
              <a:rPr lang="en-ID" sz="3200" b="1" dirty="0">
                <a:solidFill>
                  <a:srgbClr val="FFFF00"/>
                </a:solidFill>
              </a:rPr>
              <a:t> dashboard EXECUTIVE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EED44-8FDB-6ED8-39A7-927370CF3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267"/>
            <a:ext cx="9905999" cy="3096482"/>
          </a:xfrm>
        </p:spPr>
        <p:txBody>
          <a:bodyPr/>
          <a:lstStyle/>
          <a:p>
            <a:pPr marL="0" indent="0">
              <a:buNone/>
            </a:pPr>
            <a:r>
              <a:rPr lang="en-ID" dirty="0"/>
              <a:t>Executive Overview </a:t>
            </a:r>
            <a:r>
              <a:rPr lang="en-ID" dirty="0" err="1"/>
              <a:t>difokuskan</a:t>
            </a:r>
            <a:r>
              <a:rPr lang="en-ID" dirty="0"/>
              <a:t> pada: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KPI </a:t>
            </a:r>
            <a:r>
              <a:rPr lang="en-ID" dirty="0" err="1"/>
              <a:t>ringkas</a:t>
            </a:r>
            <a:r>
              <a:rPr lang="en-ID" dirty="0"/>
              <a:t> (Downtime, Cost, MTTR, High Risk Equipment, MoM)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global (Downtime Trend)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(Top 5 Equipment by Downtime)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Red flag </a:t>
            </a:r>
            <a:r>
              <a:rPr lang="en-ID" dirty="0" err="1"/>
              <a:t>efisiensi</a:t>
            </a:r>
            <a:r>
              <a:rPr lang="en-ID" dirty="0"/>
              <a:t> (Cost vs Downtime Trend)</a:t>
            </a:r>
          </a:p>
        </p:txBody>
      </p:sp>
    </p:spTree>
    <p:extLst>
      <p:ext uri="{BB962C8B-B14F-4D97-AF65-F5344CB8AC3E}">
        <p14:creationId xmlns:p14="http://schemas.microsoft.com/office/powerpoint/2010/main" val="428567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5EEE-5374-86FA-8F6C-0B3688DE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034" y="188976"/>
            <a:ext cx="11887200" cy="793021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2. WORKLOAD &amp; OPERATIONAL EFFORT → MAINTENANCE &amp; OPERATIONS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3D06D-BED0-5302-9938-659EB4F4E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57" y="793021"/>
            <a:ext cx="10160588" cy="587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6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BE76-2D61-CD46-278A-7AB05FD6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984" y="204234"/>
            <a:ext cx="10107955" cy="586664"/>
          </a:xfrm>
        </p:spPr>
        <p:txBody>
          <a:bodyPr>
            <a:no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2. WORKLOAD &amp; OPERATIONAL EFFORT → MAINTENANCE &amp; OPERATIONS</a:t>
            </a:r>
            <a:endParaRPr lang="en-ID" sz="2400" b="1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6FB-D261-A908-CEC0-DDF243470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992" y="947134"/>
            <a:ext cx="9522580" cy="57066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000" dirty="0"/>
              <a:t>Dari EDA, </a:t>
            </a:r>
            <a:r>
              <a:rPr lang="en-ID" sz="2000" dirty="0" err="1"/>
              <a:t>ditemukan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Equipment </a:t>
            </a:r>
            <a:r>
              <a:rPr lang="en-ID" sz="2000" dirty="0" err="1"/>
              <a:t>dengan</a:t>
            </a:r>
            <a:r>
              <a:rPr lang="en-ID" sz="2000" dirty="0"/>
              <a:t> downtime </a:t>
            </a:r>
            <a:r>
              <a:rPr lang="en-ID" sz="2000" dirty="0" err="1"/>
              <a:t>tertinggi</a:t>
            </a:r>
            <a:r>
              <a:rPr lang="en-ID" sz="2000" dirty="0"/>
              <a:t> </a:t>
            </a:r>
            <a:r>
              <a:rPr lang="en-ID" sz="2000" dirty="0" err="1"/>
              <a:t>belum</a:t>
            </a:r>
            <a:r>
              <a:rPr lang="en-ID" sz="2000" dirty="0"/>
              <a:t> </a:t>
            </a:r>
            <a:r>
              <a:rPr lang="en-ID" sz="2000" dirty="0" err="1"/>
              <a:t>tentu</a:t>
            </a:r>
            <a:r>
              <a:rPr lang="en-ID" sz="2000" dirty="0"/>
              <a:t> paling </a:t>
            </a:r>
            <a:r>
              <a:rPr lang="en-ID" sz="2000" dirty="0" err="1"/>
              <a:t>menyita</a:t>
            </a:r>
            <a:r>
              <a:rPr lang="en-ID" sz="2000" dirty="0"/>
              <a:t> effort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Ada </a:t>
            </a:r>
            <a:r>
              <a:rPr lang="en-ID" sz="2000" dirty="0" err="1"/>
              <a:t>aset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/>
              <a:t>Repair hours </a:t>
            </a:r>
            <a:r>
              <a:rPr lang="en-ID" dirty="0" err="1"/>
              <a:t>tinggi</a:t>
            </a:r>
            <a:endParaRPr lang="en-ID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/>
              <a:t>Work order </a:t>
            </a:r>
            <a:r>
              <a:rPr lang="en-ID" dirty="0" err="1"/>
              <a:t>banyak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Beban </a:t>
            </a:r>
            <a:r>
              <a:rPr lang="en-ID" sz="2000" dirty="0" err="1"/>
              <a:t>kerja</a:t>
            </a:r>
            <a:r>
              <a:rPr lang="en-ID" sz="2000" dirty="0"/>
              <a:t> </a:t>
            </a:r>
            <a:r>
              <a:rPr lang="en-ID" sz="2000" dirty="0" err="1"/>
              <a:t>berbeda</a:t>
            </a:r>
            <a:r>
              <a:rPr lang="en-ID" sz="2000" dirty="0"/>
              <a:t> </a:t>
            </a:r>
            <a:r>
              <a:rPr lang="en-ID" sz="2000" dirty="0" err="1"/>
              <a:t>antar</a:t>
            </a:r>
            <a:r>
              <a:rPr lang="en-ID" sz="2000" dirty="0"/>
              <a:t> site</a:t>
            </a:r>
          </a:p>
          <a:p>
            <a:pPr marL="0" indent="0">
              <a:buNone/>
            </a:pPr>
            <a:r>
              <a:rPr lang="en-ID" sz="2000" dirty="0"/>
              <a:t>Measure EDA yang </a:t>
            </a:r>
            <a:r>
              <a:rPr lang="en-ID" sz="2000" dirty="0" err="1"/>
              <a:t>mendasari</a:t>
            </a:r>
            <a:r>
              <a:rPr lang="en-ID" sz="2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Total Repair Hours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Total Work Orders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Cost per Work Order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MTBF</a:t>
            </a:r>
          </a:p>
        </p:txBody>
      </p:sp>
    </p:spTree>
    <p:extLst>
      <p:ext uri="{BB962C8B-B14F-4D97-AF65-F5344CB8AC3E}">
        <p14:creationId xmlns:p14="http://schemas.microsoft.com/office/powerpoint/2010/main" val="44410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D380-941B-5BAC-C490-7094994F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7749"/>
          </a:xfrm>
        </p:spPr>
        <p:txBody>
          <a:bodyPr>
            <a:normAutofit fontScale="90000"/>
          </a:bodyPr>
          <a:lstStyle/>
          <a:p>
            <a:r>
              <a:rPr lang="en-ID" sz="2800" b="1" dirty="0">
                <a:solidFill>
                  <a:srgbClr val="FFFF00"/>
                </a:solidFill>
              </a:rPr>
              <a:t>2. </a:t>
            </a:r>
            <a:r>
              <a:rPr lang="en-ID" sz="2800" b="1" dirty="0" err="1">
                <a:solidFill>
                  <a:srgbClr val="FFFF00"/>
                </a:solidFill>
              </a:rPr>
              <a:t>Dampak</a:t>
            </a:r>
            <a:r>
              <a:rPr lang="en-ID" sz="2800" b="1" dirty="0">
                <a:solidFill>
                  <a:srgbClr val="FFFF00"/>
                </a:solidFill>
              </a:rPr>
              <a:t> </a:t>
            </a:r>
            <a:r>
              <a:rPr lang="en-ID" sz="2800" b="1" dirty="0" err="1">
                <a:solidFill>
                  <a:srgbClr val="FFFF00"/>
                </a:solidFill>
              </a:rPr>
              <a:t>ke</a:t>
            </a:r>
            <a:r>
              <a:rPr lang="en-ID" sz="2800" b="1" dirty="0">
                <a:solidFill>
                  <a:srgbClr val="FFFF00"/>
                </a:solidFill>
              </a:rPr>
              <a:t> </a:t>
            </a:r>
            <a:r>
              <a:rPr lang="en-ID" sz="2800" b="1" dirty="0" err="1">
                <a:solidFill>
                  <a:srgbClr val="FFFF00"/>
                </a:solidFill>
              </a:rPr>
              <a:t>desain</a:t>
            </a:r>
            <a:r>
              <a:rPr lang="en-ID" sz="2800" b="1" dirty="0">
                <a:solidFill>
                  <a:srgbClr val="FFFF00"/>
                </a:solidFill>
              </a:rPr>
              <a:t> dashboard Maintenance &amp;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EED44-8FDB-6ED8-39A7-927370CF3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266"/>
            <a:ext cx="9905999" cy="3895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/>
              <a:t>Maintenance &amp; Operations </a:t>
            </a:r>
            <a:r>
              <a:rPr lang="en-ID" dirty="0" err="1"/>
              <a:t>difokuskan</a:t>
            </a:r>
            <a:r>
              <a:rPr lang="en-ID" dirty="0"/>
              <a:t> pada: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KPI workload &amp; </a:t>
            </a:r>
            <a:r>
              <a:rPr lang="en-ID" dirty="0" err="1"/>
              <a:t>efisiensi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Top Equipment by Repair Hours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Downtime Trend — Top 3 Equipment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Downtime by Site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detail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 (Operational dan Workload </a:t>
            </a:r>
            <a:r>
              <a:rPr lang="en-ID" dirty="0" err="1"/>
              <a:t>Eficiency</a:t>
            </a:r>
            <a:r>
              <a:rPr lang="en-ID" dirty="0"/>
              <a:t>)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650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5EEE-5374-86FA-8F6C-0B3688DE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915" y="254009"/>
            <a:ext cx="10485905" cy="631516"/>
          </a:xfrm>
        </p:spPr>
        <p:txBody>
          <a:bodyPr>
            <a:normAutofit/>
          </a:bodyPr>
          <a:lstStyle/>
          <a:p>
            <a:r>
              <a:rPr lang="en-ID" sz="2800" b="1" dirty="0">
                <a:solidFill>
                  <a:srgbClr val="FFFF00"/>
                </a:solidFill>
              </a:rPr>
              <a:t>3. FAILURE DOMINANCE &amp; ROOT CAUSE → RCA &amp; RISK ANALYSIS</a:t>
            </a:r>
            <a:endParaRPr lang="en-ID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EFAC6-73E0-6643-6DB4-D2F917659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37" y="955539"/>
            <a:ext cx="10023257" cy="57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4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BE76-2D61-CD46-278A-7AB05FD6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984" y="204234"/>
            <a:ext cx="10107955" cy="586664"/>
          </a:xfrm>
        </p:spPr>
        <p:txBody>
          <a:bodyPr>
            <a:noAutofit/>
          </a:bodyPr>
          <a:lstStyle/>
          <a:p>
            <a:r>
              <a:rPr lang="en-ID" sz="2400" b="1" dirty="0">
                <a:solidFill>
                  <a:srgbClr val="FFFF00"/>
                </a:solidFill>
              </a:rPr>
              <a:t>3. FAILURE DOMINANCE &amp; ROOT CAUSE → RCA &amp;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6FB-D261-A908-CEC0-DDF243470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616" y="1089281"/>
            <a:ext cx="9522580" cy="53692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000" dirty="0"/>
              <a:t>Dari EDA, </a:t>
            </a:r>
            <a:r>
              <a:rPr lang="en-ID" sz="2000" dirty="0" err="1"/>
              <a:t>ditemukan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 Downtime </a:t>
            </a:r>
            <a:r>
              <a:rPr lang="en-ID" sz="2000" dirty="0" err="1"/>
              <a:t>mengikuti</a:t>
            </a:r>
            <a:r>
              <a:rPr lang="en-ID" sz="2000" dirty="0"/>
              <a:t> </a:t>
            </a:r>
            <a:r>
              <a:rPr lang="en-ID" sz="2000" dirty="0" err="1"/>
              <a:t>pola</a:t>
            </a:r>
            <a:r>
              <a:rPr lang="en-ID" sz="2000" dirty="0"/>
              <a:t> Pareto (80/20)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failure group: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 err="1"/>
              <a:t>Dominan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downtime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 err="1"/>
              <a:t>Berdampak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biaya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 Reliability </a:t>
            </a:r>
            <a:r>
              <a:rPr lang="en-ID" sz="2000" dirty="0" err="1"/>
              <a:t>berbeda</a:t>
            </a:r>
            <a:r>
              <a:rPr lang="en-ID" sz="2000" dirty="0"/>
              <a:t> </a:t>
            </a:r>
            <a:r>
              <a:rPr lang="en-ID" sz="2000" dirty="0" err="1"/>
              <a:t>antar</a:t>
            </a:r>
            <a:r>
              <a:rPr lang="en-ID" sz="2000" dirty="0"/>
              <a:t> failure</a:t>
            </a:r>
          </a:p>
          <a:p>
            <a:pPr marL="0" indent="0">
              <a:buNone/>
            </a:pPr>
            <a:r>
              <a:rPr lang="en-ID" sz="2000" dirty="0"/>
              <a:t>Measure EDA yang </a:t>
            </a:r>
            <a:r>
              <a:rPr lang="en-ID" sz="2000" dirty="0" err="1"/>
              <a:t>mendasari</a:t>
            </a:r>
            <a:r>
              <a:rPr lang="en-ID" sz="2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Total Downtime (Hours)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Downtime Contribution 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Total Maintenance Cost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000" dirty="0"/>
              <a:t>MTBF</a:t>
            </a:r>
          </a:p>
          <a:p>
            <a:pPr marL="0" indent="0">
              <a:buNone/>
            </a:pP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226364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D380-941B-5BAC-C490-7094994F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7749"/>
          </a:xfrm>
        </p:spPr>
        <p:txBody>
          <a:bodyPr>
            <a:normAutofit/>
          </a:bodyPr>
          <a:lstStyle/>
          <a:p>
            <a:r>
              <a:rPr lang="en-ID" sz="2800" b="1" dirty="0">
                <a:solidFill>
                  <a:srgbClr val="FFFF00"/>
                </a:solidFill>
              </a:rPr>
              <a:t>3. </a:t>
            </a:r>
            <a:r>
              <a:rPr lang="en-ID" sz="2800" b="1" dirty="0" err="1">
                <a:solidFill>
                  <a:srgbClr val="FFFF00"/>
                </a:solidFill>
              </a:rPr>
              <a:t>Dampak</a:t>
            </a:r>
            <a:r>
              <a:rPr lang="en-ID" sz="2800" b="1" dirty="0">
                <a:solidFill>
                  <a:srgbClr val="FFFF00"/>
                </a:solidFill>
              </a:rPr>
              <a:t> </a:t>
            </a:r>
            <a:r>
              <a:rPr lang="en-ID" sz="2800" b="1" dirty="0" err="1">
                <a:solidFill>
                  <a:srgbClr val="FFFF00"/>
                </a:solidFill>
              </a:rPr>
              <a:t>ke</a:t>
            </a:r>
            <a:r>
              <a:rPr lang="en-ID" sz="2800" b="1" dirty="0">
                <a:solidFill>
                  <a:srgbClr val="FFFF00"/>
                </a:solidFill>
              </a:rPr>
              <a:t> </a:t>
            </a:r>
            <a:r>
              <a:rPr lang="en-ID" sz="2800" b="1" dirty="0" err="1">
                <a:solidFill>
                  <a:srgbClr val="FFFF00"/>
                </a:solidFill>
              </a:rPr>
              <a:t>desain</a:t>
            </a:r>
            <a:r>
              <a:rPr lang="en-ID" sz="2800" b="1" dirty="0">
                <a:solidFill>
                  <a:srgbClr val="FFFF00"/>
                </a:solidFill>
              </a:rPr>
              <a:t> dashboard RCA and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EED44-8FDB-6ED8-39A7-927370CF3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267"/>
            <a:ext cx="9905999" cy="29809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/>
              <a:t>RCA &amp; Risk Analysis </a:t>
            </a:r>
            <a:r>
              <a:rPr lang="en-ID" dirty="0" err="1"/>
              <a:t>difokuskan</a:t>
            </a:r>
            <a:r>
              <a:rPr lang="en-ID" dirty="0"/>
              <a:t> pada: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Failure Pareto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Top Failure by Cost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Failure Trend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Root Cause Analysis Details</a:t>
            </a:r>
          </a:p>
        </p:txBody>
      </p:sp>
    </p:spTree>
    <p:extLst>
      <p:ext uri="{BB962C8B-B14F-4D97-AF65-F5344CB8AC3E}">
        <p14:creationId xmlns:p14="http://schemas.microsoft.com/office/powerpoint/2010/main" val="4075817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BE76-2D61-CD46-278A-7AB05FD6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984" y="204234"/>
            <a:ext cx="10107955" cy="586664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HUBUNGAN ANTAR DASHBOARD (END-TO-END FLOW)</a:t>
            </a:r>
            <a:endParaRPr lang="en-ID" sz="3200" b="1" dirty="0">
              <a:solidFill>
                <a:srgbClr val="FFFF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FE795A-7C87-C19B-DC87-1BE34E526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875" y="1319158"/>
            <a:ext cx="6496250" cy="42196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800" dirty="0"/>
              <a:t>Executive Overview</a:t>
            </a:r>
          </a:p>
          <a:p>
            <a:pPr marL="0" indent="0">
              <a:buNone/>
            </a:pPr>
            <a:r>
              <a:rPr lang="en-ID" sz="2800" b="1" dirty="0"/>
              <a:t>               </a:t>
            </a:r>
            <a:r>
              <a:rPr lang="en-ID" sz="2800" b="1" dirty="0">
                <a:hlinkClick r:id="rId3" action="ppaction://hlinksldjump"/>
              </a:rPr>
              <a:t>↓ (</a:t>
            </a:r>
            <a:r>
              <a:rPr lang="en-ID" sz="2800" b="1" dirty="0" err="1">
                <a:hlinkClick r:id="rId3" action="ppaction://hlinksldjump"/>
              </a:rPr>
              <a:t>lihat</a:t>
            </a:r>
            <a:r>
              <a:rPr lang="en-ID" sz="2800" b="1" dirty="0">
                <a:hlinkClick r:id="rId3" action="ppaction://hlinksldjump"/>
              </a:rPr>
              <a:t> </a:t>
            </a:r>
            <a:r>
              <a:rPr lang="en-ID" sz="2800" b="1" dirty="0" err="1">
                <a:hlinkClick r:id="rId3" action="ppaction://hlinksldjump"/>
              </a:rPr>
              <a:t>risiko</a:t>
            </a:r>
            <a:r>
              <a:rPr lang="en-ID" sz="2800" b="1" dirty="0">
                <a:hlinkClick r:id="rId3" action="ppaction://hlinksldjump"/>
              </a:rPr>
              <a:t> &amp; </a:t>
            </a:r>
            <a:r>
              <a:rPr lang="en-ID" sz="2800" b="1" dirty="0" err="1">
                <a:hlinkClick r:id="rId3" action="ppaction://hlinksldjump"/>
              </a:rPr>
              <a:t>arah</a:t>
            </a:r>
            <a:r>
              <a:rPr lang="en-ID" sz="2800" b="1" dirty="0">
                <a:hlinkClick r:id="rId3" action="ppaction://hlinksldjump"/>
              </a:rPr>
              <a:t>) </a:t>
            </a:r>
            <a:endParaRPr lang="en-ID" sz="2800" b="1" dirty="0"/>
          </a:p>
          <a:p>
            <a:pPr marL="0" indent="0">
              <a:buNone/>
            </a:pPr>
            <a:r>
              <a:rPr lang="en-ID" sz="2800" dirty="0"/>
              <a:t>Maintenance &amp; Operations</a:t>
            </a:r>
          </a:p>
          <a:p>
            <a:pPr marL="0" indent="0">
              <a:buNone/>
            </a:pPr>
            <a:r>
              <a:rPr lang="en-ID" sz="2800" dirty="0"/>
              <a:t>               </a:t>
            </a:r>
            <a:r>
              <a:rPr lang="en-ID" sz="2800" dirty="0">
                <a:hlinkClick r:id="rId4" action="ppaction://hlinksldjump"/>
              </a:rPr>
              <a:t>↓ (</a:t>
            </a:r>
            <a:r>
              <a:rPr lang="en-ID" sz="2800" dirty="0" err="1">
                <a:hlinkClick r:id="rId4" action="ppaction://hlinksldjump"/>
              </a:rPr>
              <a:t>lihat</a:t>
            </a:r>
            <a:r>
              <a:rPr lang="en-ID" sz="2800" dirty="0">
                <a:hlinkClick r:id="rId4" action="ppaction://hlinksldjump"/>
              </a:rPr>
              <a:t> detail &amp; </a:t>
            </a:r>
            <a:r>
              <a:rPr lang="en-ID" sz="2800" dirty="0" err="1">
                <a:hlinkClick r:id="rId4" action="ppaction://hlinksldjump"/>
              </a:rPr>
              <a:t>eksekusi</a:t>
            </a:r>
            <a:r>
              <a:rPr lang="en-ID" sz="2800" dirty="0">
                <a:hlinkClick r:id="rId4" action="ppaction://hlinksldjump"/>
              </a:rPr>
              <a:t>)   </a:t>
            </a:r>
            <a:endParaRPr lang="en-ID" sz="2800" dirty="0"/>
          </a:p>
          <a:p>
            <a:pPr marL="0" indent="0">
              <a:buNone/>
            </a:pPr>
            <a:r>
              <a:rPr lang="en-ID" sz="2800" dirty="0"/>
              <a:t>RCA &amp; Risk Analysis</a:t>
            </a:r>
          </a:p>
          <a:p>
            <a:pPr marL="0" indent="0">
              <a:buNone/>
            </a:pPr>
            <a:r>
              <a:rPr lang="en-ID" sz="2800" dirty="0"/>
              <a:t>               </a:t>
            </a:r>
            <a:r>
              <a:rPr lang="en-ID" sz="2800" dirty="0">
                <a:hlinkClick r:id="rId5" action="ppaction://hlinksldjump"/>
              </a:rPr>
              <a:t>↓ (</a:t>
            </a:r>
            <a:r>
              <a:rPr lang="en-ID" sz="2800" dirty="0" err="1">
                <a:hlinkClick r:id="rId5" action="ppaction://hlinksldjump"/>
              </a:rPr>
              <a:t>tentukan</a:t>
            </a:r>
            <a:r>
              <a:rPr lang="en-ID" sz="2800" dirty="0">
                <a:hlinkClick r:id="rId5" action="ppaction://hlinksldjump"/>
              </a:rPr>
              <a:t> corrective action)</a:t>
            </a:r>
            <a:endParaRPr lang="en-ID" sz="2800" dirty="0"/>
          </a:p>
          <a:p>
            <a:pPr marL="0" indent="0">
              <a:buNone/>
            </a:pP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101647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4A4C-36F4-1BB6-CA29-A5856879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547" y="0"/>
            <a:ext cx="9905998" cy="883023"/>
          </a:xfrm>
        </p:spPr>
        <p:txBody>
          <a:bodyPr/>
          <a:lstStyle/>
          <a:p>
            <a:r>
              <a:rPr lang="en-ID" sz="3600" b="1" dirty="0"/>
              <a:t>(</a:t>
            </a:r>
            <a:r>
              <a:rPr lang="en-ID" sz="3600" b="1" dirty="0" err="1"/>
              <a:t>lihat</a:t>
            </a:r>
            <a:r>
              <a:rPr lang="en-ID" sz="3600" b="1" dirty="0"/>
              <a:t> </a:t>
            </a:r>
            <a:r>
              <a:rPr lang="en-ID" sz="3600" b="1" dirty="0" err="1"/>
              <a:t>risiko</a:t>
            </a:r>
            <a:r>
              <a:rPr lang="en-ID" sz="3600" b="1" dirty="0"/>
              <a:t> &amp; </a:t>
            </a:r>
            <a:r>
              <a:rPr lang="en-ID" sz="3600" b="1" dirty="0" err="1"/>
              <a:t>arah</a:t>
            </a:r>
            <a:r>
              <a:rPr lang="en-ID" sz="3600" b="1" dirty="0"/>
              <a:t>)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035A-E47B-03A0-00A7-3CF2F9D95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4056" y="883023"/>
            <a:ext cx="9905999" cy="5835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pakai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dashboard </a:t>
            </a:r>
            <a:r>
              <a:rPr lang="en-ID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Overview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Head of Engineering / Maintenance Manager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Decision maker</a:t>
            </a:r>
          </a:p>
          <a:p>
            <a:pPr marL="0" indent="0">
              <a:buNone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Pertanyaan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mendasari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dashboard </a:t>
            </a:r>
            <a:r>
              <a:rPr lang="en-ID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Overview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Apakah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maintenance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membaik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memburuk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Risiko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terbesar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mana (equipment / site)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Apakah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terkendali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Apakah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red flag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perhatian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 marL="0" indent="0">
              <a:buNone/>
            </a:pPr>
            <a:r>
              <a:rPr lang="en-ID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strategic decision</a:t>
            </a:r>
          </a:p>
        </p:txBody>
      </p:sp>
    </p:spTree>
    <p:extLst>
      <p:ext uri="{BB962C8B-B14F-4D97-AF65-F5344CB8AC3E}">
        <p14:creationId xmlns:p14="http://schemas.microsoft.com/office/powerpoint/2010/main" val="324932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4A4C-36F4-1BB6-CA29-A5856879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547" y="0"/>
            <a:ext cx="9905998" cy="680893"/>
          </a:xfrm>
        </p:spPr>
        <p:txBody>
          <a:bodyPr/>
          <a:lstStyle/>
          <a:p>
            <a:r>
              <a:rPr lang="en-ID" sz="3600" b="1" dirty="0"/>
              <a:t>(</a:t>
            </a:r>
            <a:r>
              <a:rPr lang="en-ID" sz="3600" b="1" dirty="0" err="1"/>
              <a:t>lihat</a:t>
            </a:r>
            <a:r>
              <a:rPr lang="en-ID" sz="3600" b="1" dirty="0"/>
              <a:t> detail &amp; </a:t>
            </a:r>
            <a:r>
              <a:rPr lang="en-ID" sz="3600" b="1" dirty="0" err="1"/>
              <a:t>eksekusi</a:t>
            </a:r>
            <a:r>
              <a:rPr lang="en-ID" sz="3600" b="1" dirty="0"/>
              <a:t>)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035A-E47B-03A0-00A7-3CF2F9D95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548" y="680893"/>
            <a:ext cx="10694452" cy="59749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pakai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dashboard </a:t>
            </a:r>
            <a:r>
              <a:rPr lang="en-ID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and Operations :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Maintenance Supervisor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Operation Manager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Planning &amp; Scheduling</a:t>
            </a:r>
          </a:p>
          <a:p>
            <a:pPr marL="0" indent="0">
              <a:buNone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Pertanyaan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mendasari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dashboard </a:t>
            </a:r>
            <a:r>
              <a:rPr lang="en-ID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and Operations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Equipment mana yang paling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berdampak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Equipment mana yang paling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menyita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effort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Site mana yang paling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bebannya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Apakah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tren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masalah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konsisten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sementara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 marL="0" indent="0">
              <a:buNone/>
            </a:pPr>
            <a:r>
              <a:rPr lang="en-ID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operational execution</a:t>
            </a:r>
          </a:p>
        </p:txBody>
      </p:sp>
    </p:spTree>
    <p:extLst>
      <p:ext uri="{BB962C8B-B14F-4D97-AF65-F5344CB8AC3E}">
        <p14:creationId xmlns:p14="http://schemas.microsoft.com/office/powerpoint/2010/main" val="3085398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4A4C-36F4-1BB6-CA29-A5856879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547" y="0"/>
            <a:ext cx="9905998" cy="883023"/>
          </a:xfrm>
        </p:spPr>
        <p:txBody>
          <a:bodyPr/>
          <a:lstStyle/>
          <a:p>
            <a:pPr marL="0" indent="0">
              <a:buNone/>
            </a:pPr>
            <a:r>
              <a:rPr lang="en-ID" sz="3600" b="1" dirty="0"/>
              <a:t>(</a:t>
            </a:r>
            <a:r>
              <a:rPr lang="en-ID" sz="3600" b="1" dirty="0" err="1"/>
              <a:t>tentukan</a:t>
            </a:r>
            <a:r>
              <a:rPr lang="en-ID" sz="3600" b="1" dirty="0"/>
              <a:t> corrective 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035A-E47B-03A0-00A7-3CF2F9D95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4056" y="883023"/>
            <a:ext cx="9905999" cy="57006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 err="1"/>
              <a:t>Siapa</a:t>
            </a:r>
            <a:r>
              <a:rPr lang="en-ID" dirty="0"/>
              <a:t> yang </a:t>
            </a:r>
            <a:r>
              <a:rPr lang="en-ID" dirty="0" err="1"/>
              <a:t>pakai</a:t>
            </a:r>
            <a:r>
              <a:rPr lang="en-ID" dirty="0"/>
              <a:t> dashboard </a:t>
            </a:r>
            <a:r>
              <a:rPr lang="en-ID" b="1" dirty="0">
                <a:solidFill>
                  <a:srgbClr val="FFFF00"/>
                </a:solidFill>
              </a:rPr>
              <a:t>RCA and RISK ANALYSIS :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Reliability Engineer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Engineering Team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 Continuous Improvement</a:t>
            </a:r>
          </a:p>
          <a:p>
            <a:pPr marL="0" indent="0">
              <a:buNone/>
            </a:pPr>
            <a:r>
              <a:rPr lang="en-ID" dirty="0" err="1"/>
              <a:t>Pertanyaan</a:t>
            </a:r>
            <a:r>
              <a:rPr lang="en-ID" dirty="0"/>
              <a:t> yang </a:t>
            </a:r>
            <a:r>
              <a:rPr lang="en-ID" dirty="0" err="1"/>
              <a:t>mendasari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dashboard </a:t>
            </a:r>
            <a:r>
              <a:rPr lang="en-ID" b="1" dirty="0">
                <a:solidFill>
                  <a:srgbClr val="FFFF00"/>
                </a:solidFill>
              </a:rPr>
              <a:t>RCA and RISK ANALYSIS :</a:t>
            </a:r>
            <a:endParaRPr lang="en-ID" dirty="0"/>
          </a:p>
          <a:p>
            <a:pPr>
              <a:buFont typeface="Wingdings" panose="05000000000000000000" pitchFamily="2" charset="2"/>
              <a:buChar char="ü"/>
            </a:pPr>
            <a:r>
              <a:rPr lang="en-ID" b="1" dirty="0"/>
              <a:t> </a:t>
            </a:r>
            <a:r>
              <a:rPr lang="en-ID" b="1" dirty="0" err="1"/>
              <a:t>Kenapa</a:t>
            </a:r>
            <a:r>
              <a:rPr lang="en-ID" dirty="0"/>
              <a:t> downtime </a:t>
            </a:r>
            <a:r>
              <a:rPr lang="en-ID" dirty="0" err="1"/>
              <a:t>terjadi</a:t>
            </a:r>
            <a:r>
              <a:rPr lang="en-ID" dirty="0"/>
              <a:t> 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 Failure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b="1" dirty="0"/>
              <a:t>paling </a:t>
            </a:r>
            <a:r>
              <a:rPr lang="en-ID" b="1" dirty="0" err="1"/>
              <a:t>dominan</a:t>
            </a:r>
            <a:r>
              <a:rPr lang="en-ID" dirty="0"/>
              <a:t>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masalahnya</a:t>
            </a:r>
            <a:r>
              <a:rPr lang="en-ID" dirty="0"/>
              <a:t> </a:t>
            </a:r>
            <a:r>
              <a:rPr lang="en-ID" b="1" dirty="0" err="1"/>
              <a:t>mekanis</a:t>
            </a:r>
            <a:r>
              <a:rPr lang="en-ID" b="1" dirty="0"/>
              <a:t>, </a:t>
            </a:r>
            <a:r>
              <a:rPr lang="en-ID" b="1" dirty="0" err="1"/>
              <a:t>elektrik</a:t>
            </a:r>
            <a:r>
              <a:rPr lang="en-ID" b="1" dirty="0"/>
              <a:t>, </a:t>
            </a:r>
            <a:r>
              <a:rPr lang="en-ID" b="1" dirty="0" err="1"/>
              <a:t>atau</a:t>
            </a:r>
            <a:r>
              <a:rPr lang="en-ID" b="1" dirty="0"/>
              <a:t> procedural ?</a:t>
            </a:r>
            <a:endParaRPr lang="en-ID" dirty="0"/>
          </a:p>
          <a:p>
            <a:pPr>
              <a:buFont typeface="Wingdings" panose="05000000000000000000" pitchFamily="2" charset="2"/>
              <a:buChar char="ü"/>
            </a:pPr>
            <a:r>
              <a:rPr lang="en-ID" dirty="0"/>
              <a:t> Failure mana yang </a:t>
            </a:r>
            <a:r>
              <a:rPr lang="en-ID" b="1" dirty="0" err="1"/>
              <a:t>harus</a:t>
            </a:r>
            <a:r>
              <a:rPr lang="en-ID" b="1" dirty="0"/>
              <a:t> </a:t>
            </a:r>
            <a:r>
              <a:rPr lang="en-ID" b="1" dirty="0" err="1"/>
              <a:t>diprioritaskan</a:t>
            </a:r>
            <a:r>
              <a:rPr lang="en-ID" b="1" dirty="0"/>
              <a:t> </a:t>
            </a:r>
            <a:r>
              <a:rPr lang="en-ID" b="1" dirty="0" err="1"/>
              <a:t>diperbaiki</a:t>
            </a:r>
            <a:r>
              <a:rPr lang="en-ID" b="1" dirty="0"/>
              <a:t> </a:t>
            </a:r>
            <a:r>
              <a:rPr lang="en-ID" b="1" dirty="0" err="1"/>
              <a:t>dulu</a:t>
            </a:r>
            <a:r>
              <a:rPr lang="en-ID" b="1" dirty="0"/>
              <a:t> ?</a:t>
            </a:r>
          </a:p>
          <a:p>
            <a:pPr marL="0" indent="0">
              <a:buNone/>
            </a:pPr>
            <a:r>
              <a:rPr lang="en-ID" b="1" dirty="0">
                <a:solidFill>
                  <a:srgbClr val="FFC000"/>
                </a:solidFill>
              </a:rPr>
              <a:t>Output: diagnostic &amp; prioritization</a:t>
            </a:r>
          </a:p>
        </p:txBody>
      </p:sp>
    </p:spTree>
    <p:extLst>
      <p:ext uri="{BB962C8B-B14F-4D97-AF65-F5344CB8AC3E}">
        <p14:creationId xmlns:p14="http://schemas.microsoft.com/office/powerpoint/2010/main" val="2134324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5552-F28D-1F81-D92D-5620349F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431" y="0"/>
            <a:ext cx="9905998" cy="1258408"/>
          </a:xfrm>
        </p:spPr>
        <p:txBody>
          <a:bodyPr>
            <a:normAutofit/>
          </a:bodyPr>
          <a:lstStyle/>
          <a:p>
            <a:r>
              <a:rPr lang="sv-SE" sz="2800" b="1" dirty="0"/>
              <a:t>GAMBARAN ALUR DALAM DUNIA NYATA</a:t>
            </a: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F274-3F63-3C98-4798-5B6343CC6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559" y="1035099"/>
            <a:ext cx="9905999" cy="5654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Bayangkan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rapat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mingguan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maintenance: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ID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Executive Overview</a:t>
            </a:r>
          </a:p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	“Downtime naik 15%, cost juga naik.”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Masuk </a:t>
            </a:r>
            <a:r>
              <a:rPr lang="en-ID" sz="20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Maintenance &amp; Operations</a:t>
            </a:r>
          </a:p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	“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Ternyata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equipment EX-101 di Site Timur yang paling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berdampak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Masuk </a:t>
            </a:r>
            <a:r>
              <a:rPr lang="en-ID" sz="20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D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RCA &amp; Risk Analysis</a:t>
            </a:r>
          </a:p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	“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Penyebab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utamanya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bearing failure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preventive maintenance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terlambat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pPr marL="0" indent="0">
              <a:buNone/>
            </a:pP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Keputusan yang </a:t>
            </a:r>
            <a:r>
              <a:rPr lang="en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ID" sz="20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Update PM schedule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Ganti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spare part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87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844A-13D6-4CF5-78EE-889F584F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8895" y="1950430"/>
            <a:ext cx="2718318" cy="1478570"/>
          </a:xfrm>
        </p:spPr>
        <p:txBody>
          <a:bodyPr/>
          <a:lstStyle/>
          <a:p>
            <a:r>
              <a:rPr lang="en-ID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4183450"/>
      </p:ext>
    </p:extLst>
  </p:cSld>
  <p:clrMapOvr>
    <a:masterClrMapping/>
  </p:clrMapOvr>
</p:sld>
</file>

<file path=ppt/theme/_rels/theme1.xml.rels>&#65279;<?xml version="1.0" encoding="utf-8"?><Relationships xmlns="http://schemas.openxmlformats.org/package/2006/relationships"><Relationship Type="http://schemas.openxmlformats.org/officeDocument/2006/relationships/image" Target="/ppt/media/image1.jpeg" Id="rId1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202</TotalTime>
  <Words>1245</Words>
  <Application>Microsoft Office PowerPoint</Application>
  <PresentationFormat>Widescreen</PresentationFormat>
  <Paragraphs>227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Tw Cen MT</vt:lpstr>
      <vt:lpstr>Wingdings</vt:lpstr>
      <vt:lpstr>Circuit</vt:lpstr>
      <vt:lpstr>EDA to Dashboard Mapping   (PENJELASAN YANG LEBIH DETAIL, MENDALAM, DAN TERSTRUKTUR)</vt:lpstr>
      <vt:lpstr>visual diagram EDA ke dashboard</vt:lpstr>
      <vt:lpstr>EDA menghasilkan 3 jenis insight utama :</vt:lpstr>
      <vt:lpstr>1. DOWNTIME &amp; COST INSIGHTS → EXECUTIVE OVERVIEW</vt:lpstr>
      <vt:lpstr>1. DOWNTIME &amp; COST INSIGHTS → EXECUTIVE OVERVIEW</vt:lpstr>
      <vt:lpstr>1. Dampak ke desain dashboard EXECUTIVE OVERVIEW</vt:lpstr>
      <vt:lpstr>2. WORKLOAD &amp; OPERATIONAL EFFORT → MAINTENANCE &amp; OPERATIONS</vt:lpstr>
      <vt:lpstr>2. WORKLOAD &amp; OPERATIONAL EFFORT → MAINTENANCE &amp; OPERATIONS</vt:lpstr>
      <vt:lpstr>2. Dampak ke desain dashboard Maintenance &amp; Operations </vt:lpstr>
      <vt:lpstr>3. FAILURE DOMINANCE &amp; ROOT CAUSE → RCA &amp; RISK ANALYSIS</vt:lpstr>
      <vt:lpstr>3. FAILURE DOMINANCE &amp; ROOT CAUSE → RCA &amp; RISK ANALYSIS</vt:lpstr>
      <vt:lpstr>3. Dampak ke desain dashboard RCA and Risk analysis</vt:lpstr>
      <vt:lpstr>HUBUNGAN ANTAR DASHBOARD (END-TO-END FLOW)</vt:lpstr>
      <vt:lpstr>(lihat risiko &amp; arah) </vt:lpstr>
      <vt:lpstr>(lihat detail &amp; eksekusi)</vt:lpstr>
      <vt:lpstr>(tentukan corrective action)</vt:lpstr>
      <vt:lpstr>GAMBARAN ALUR DALAM DUNIA NYATA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andono</dc:creator>
  <cp:lastModifiedBy>ahmad andono</cp:lastModifiedBy>
  <cp:revision>71</cp:revision>
  <dcterms:created xsi:type="dcterms:W3CDTF">2025-12-29T13:48:22Z</dcterms:created>
  <dcterms:modified xsi:type="dcterms:W3CDTF">2025-12-30T01:33:20Z</dcterms:modified>
</cp:coreProperties>
</file>